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3A55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B3A55"/>
                </a:solidFill>
                <a:latin typeface="Cambria"/>
              </a:rPr>
              <a:t>Real, measured before → after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fix</c:v>
                </c:pt>
              </c:strCache>
            </c:strRef>
          </c:tx>
          <c:spPr>
            <a:solidFill>
              <a:srgbClr val="AEBB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3A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Escalation Recall</c:v>
                  </c:pt>
                  <c:pt idx="1">
                    <c:v>Context Recall</c:v>
                  </c:pt>
                  <c:pt idx="2">
                    <c:v>Task Success Rate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21</c:v>
                </c:pt>
                <c:pt idx="2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</c:v>
                </c:pt>
              </c:strCache>
            </c:strRef>
          </c:tx>
          <c:spPr>
            <a:solidFill>
              <a:srgbClr val="2B3A5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3A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Escalation Recall</c:v>
                  </c:pt>
                  <c:pt idx="1">
                    <c:v>Context Recall</c:v>
                  </c:pt>
                  <c:pt idx="2">
                    <c:v>Task Success Rate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</c:v>
                </c:pt>
                <c:pt idx="1">
                  <c:v>39</c:v>
                </c:pt>
                <c:pt idx="2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3A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3A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3E7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B3A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2B3A5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2B3A55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" y="891540"/>
            <a:ext cx="1051560" cy="1051560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5" name="Image 0" descr="/home/claude/pptx_project/icons/netwo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914" y="114391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BUILD AUTONOMOUS AGENTIC AI SYSTEMS  ·  DOMAIN: ENTERPRISE SUPPORT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292608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Software Support &amp;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Intelligence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multi-agent assistant that fuses documentation retrieval (RAG) with live account data (SQL) — routes deterministically, reflects on its own confidence, and knows when to hand off to a human.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989320"/>
            <a:ext cx="0" cy="457200"/>
          </a:xfrm>
          <a:prstGeom prst="line">
            <a:avLst/>
          </a:prstGeom>
          <a:noFill/>
          <a:ln w="12700">
            <a:solidFill>
              <a:srgbClr val="3C4A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080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Mutha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FastAPI · React · Postgres/pgvector · Azure OpenAI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assistant, two kinds of knowledge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teams field a constant stream of tickets that require cross-referencing product documentation against a specific customer's own account state — their tickets, subscription tier, and active incidents. Answering well means combining both, and knowing when not to answer autonomously.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is that support agent's assistant: a chat interface where a logged-in agent asks a question about a specific customer, and a multi-agent LangGraph pipeline classifies the query, retrieves the right evidence, cross-references severity, reflects on its own confidence — and either answers with citations or escalates to a human.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745736"/>
            <a:ext cx="91440" cy="91440"/>
          </a:xfrm>
          <a:prstGeom prst="ellipse">
            <a:avLst/>
          </a:prstGeom>
          <a:solidFill>
            <a:srgbClr val="8A6D1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59028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traced end-to-end (Langfuse)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5084064"/>
            <a:ext cx="91440" cy="91440"/>
          </a:xfrm>
          <a:prstGeom prst="ellipse">
            <a:avLst/>
          </a:prstGeom>
          <a:solidFill>
            <a:srgbClr val="8A6D1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92861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SQL access is whitelisted &amp; parametrized — no injection surface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422392"/>
            <a:ext cx="91440" cy="91440"/>
          </a:xfrm>
          <a:prstGeom prst="ellipse">
            <a:avLst/>
          </a:prstGeom>
          <a:solidFill>
            <a:srgbClr val="8A6D1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26694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narrative is PII-redacted before reaching an answer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91440" cy="91440"/>
          </a:xfrm>
          <a:prstGeom prst="ellipse">
            <a:avLst/>
          </a:prstGeom>
          <a:solidFill>
            <a:srgbClr val="8A6D1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60527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quality — not just uptime — measured against a 50-query golden set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52360" y="1554480"/>
            <a:ext cx="4160520" cy="1078992"/>
          </a:xfrm>
          <a:prstGeom prst="roundRect">
            <a:avLst>
              <a:gd name="adj" fmla="val 762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1645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006840" y="1554480"/>
            <a:ext cx="24231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AGENTS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2798064"/>
            <a:ext cx="4160520" cy="1078992"/>
          </a:xfrm>
          <a:prstGeom prst="roundRect">
            <a:avLst>
              <a:gd name="adj" fmla="val 762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0" y="2889504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006840" y="2798064"/>
            <a:ext cx="24231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4041648"/>
            <a:ext cx="4160520" cy="1078992"/>
          </a:xfrm>
          <a:prstGeom prst="roundRect">
            <a:avLst>
              <a:gd name="adj" fmla="val 762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413308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006840" y="4041648"/>
            <a:ext cx="24231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5285232"/>
            <a:ext cx="4160520" cy="1078992"/>
          </a:xfrm>
          <a:prstGeom prst="roundRect">
            <a:avLst>
              <a:gd name="adj" fmla="val 762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537667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006840" y="5285232"/>
            <a:ext cx="24231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77393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6" name="Image 0" descr="/home/claude/pptx_project/icons/search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384" y="193194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3288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RAG retrieval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keyword fusion (RRF) with an LLM reranking pass over ingested product documentation — text, tables, images, diagrams.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3458" y="160020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7194" y="177393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11" name="Image 1" descr="/home/claude/pptx_project/icons/databas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203" y="193194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490" y="253288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Whitelisted SQL tools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9490" y="289864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Parametrized, injection-proof lookups over live customer, ticket, and incident data — never free-text SQL.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8277" y="160020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2013" y="177393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16" name="Image 2" descr="/home/claude/pptx_project/icons/rout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021" y="193194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4309" y="253288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routing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4309" y="289864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Code-driven RAG / SQL / Hybrid / Critical routing based on query classification and severity — no LLM-manager latency tax.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419709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21" name="Image 3" descr="/home/claude/pptx_project/icons/bullsey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84" y="435510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5604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Confidence-tiered gating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32180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auto-respond vs. escalate-to-human decisioning, tuned against real golden-evaluation data.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3458" y="402336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7194" y="419709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26" name="Image 4" descr="/home/claude/pptx_project/icons/ey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203" y="4355104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9490" y="495604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trace &amp; diagram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09490" y="532180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reasoning-trace and a live animated workflow diagram, streamed to the agent via SSE as the graph runs.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8277" y="402336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2013" y="419709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31" name="Image 5" descr="/home/claude/pptx_project/icons/usershield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021" y="4355104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4309" y="495604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RBAC, auth &amp; rate limits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14309" y="532180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support_agent / admin roles, JWT auth with refresh rotation, password reset, and per-user rate limiting.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system,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31720" cy="3383280"/>
          </a:xfrm>
          <a:prstGeom prst="roundRect">
            <a:avLst>
              <a:gd name="adj" fmla="val 274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700784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2066544"/>
            <a:ext cx="2039112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TypeScript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chat (SSE) · live workflow diagram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· citations · admin pages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3108960" y="1554480"/>
            <a:ext cx="2331720" cy="3383280"/>
          </a:xfrm>
          <a:prstGeom prst="roundRect">
            <a:avLst>
              <a:gd name="adj" fmla="val 2745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55264" y="1700784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55264" y="2066544"/>
            <a:ext cx="2039112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CORS → rate limiter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request-context middleware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endpoints across 9 routers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669280" y="1554480"/>
            <a:ext cx="2651760" cy="3383280"/>
          </a:xfrm>
          <a:prstGeom prst="roundRect">
            <a:avLst>
              <a:gd name="adj" fmla="val 2414"/>
            </a:avLst>
          </a:prstGeom>
          <a:solidFill>
            <a:srgbClr val="1A2436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15584" y="1700784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15584" y="2066544"/>
            <a:ext cx="2359152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Postgres-checkpointed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recursion_limit = 15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route → [retrieve ∥]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severity? → reflect → respond/escalate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549640" y="1554480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5EFE0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95944" y="1700784"/>
            <a:ext cx="1307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95944" y="2066544"/>
            <a:ext cx="130759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 customers, tickets,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incidents, kb usage, users,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conversations, messages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549640" y="3337560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95944" y="3483864"/>
            <a:ext cx="1307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95944" y="3849624"/>
            <a:ext cx="130759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+ full-text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 + LLM rerank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0314432" y="1554480"/>
            <a:ext cx="1325880" cy="1600200"/>
          </a:xfrm>
          <a:prstGeom prst="roundRect">
            <a:avLst>
              <a:gd name="adj" fmla="val 4828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460736" y="1700784"/>
            <a:ext cx="1033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NOTIFY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460736" y="2066544"/>
            <a:ext cx="103327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notification_mcp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(stdio subprocess)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Mailtrap, background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10314432" y="3337560"/>
            <a:ext cx="1325880" cy="1600200"/>
          </a:xfrm>
          <a:prstGeom prst="roundRect">
            <a:avLst>
              <a:gd name="adj" fmla="val 4828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460736" y="3483864"/>
            <a:ext cx="1033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60736" y="3849624"/>
            <a:ext cx="103327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· Langfuse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logs</a:t>
            </a:r>
            <a:endParaRPr lang="en-US" sz="9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guardrail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7772400" cy="777240"/>
          </a:xfrm>
          <a:prstGeom prst="roundRect">
            <a:avLst>
              <a:gd name="adj" fmla="val 8235"/>
            </a:avLst>
          </a:prstGeom>
          <a:solidFill>
            <a:srgbClr val="F5EFE0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527608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55040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(text/tables/images/diagrams) → content-hash → dedup_engine → batched embed (Redis partial-cache-hit) → indexes  —  feeds Retrieval only, never touches Orchestration directly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2880360" y="3246120"/>
            <a:ext cx="228600" cy="914"/>
          </a:xfrm>
          <a:prstGeom prst="line">
            <a:avLst/>
          </a:prstGeom>
          <a:noFill/>
          <a:ln w="1905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40680" y="3246120"/>
            <a:ext cx="228600" cy="914"/>
          </a:xfrm>
          <a:prstGeom prst="line">
            <a:avLst/>
          </a:prstGeom>
          <a:noFill/>
          <a:ln w="1905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321040" y="2359152"/>
            <a:ext cx="228600" cy="914"/>
          </a:xfrm>
          <a:prstGeom prst="line">
            <a:avLst/>
          </a:prstGeom>
          <a:noFill/>
          <a:ln w="1905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21040" y="4142232"/>
            <a:ext cx="228600" cy="914"/>
          </a:xfrm>
          <a:prstGeom prst="line">
            <a:avLst/>
          </a:prstGeom>
          <a:noFill/>
          <a:ln w="1905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52560" y="4937760"/>
            <a:ext cx="914" cy="228600"/>
          </a:xfrm>
          <a:prstGeom prst="line">
            <a:avLst/>
          </a:prstGeom>
          <a:noFill/>
          <a:ln w="19050">
            <a:solidFill>
              <a:srgbClr val="8A6D1A"/>
            </a:solidFill>
            <a:prstDash val="solid"/>
            <a:headEnd type="triangle"/>
          </a:ln>
        </p:spPr>
      </p:sp>
      <p:sp>
        <p:nvSpPr>
          <p:cNvPr id="33" name="Text 31"/>
          <p:cNvSpPr/>
          <p:nvPr/>
        </p:nvSpPr>
        <p:spPr>
          <a:xfrm>
            <a:off x="548640" y="60533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 — PII redaction, Langfuse tracing, Redis caching, structured logging, the scope guardrail — run through Orchestration on every request, not bolted on separately.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Centralized, deterministic — not a free-for-all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092440" y="2834640"/>
            <a:ext cx="1920240" cy="192024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35021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52560" y="2070202"/>
            <a:ext cx="9144" cy="841248"/>
          </a:xfrm>
          <a:prstGeom prst="line">
            <a:avLst/>
          </a:prstGeom>
          <a:noFill/>
          <a:ln w="15875">
            <a:solidFill>
              <a:srgbClr val="3C4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184160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/>
        </p:spPr>
      </p:sp>
      <p:sp>
        <p:nvSpPr>
          <p:cNvPr id="8" name="Text 6"/>
          <p:cNvSpPr/>
          <p:nvPr/>
        </p:nvSpPr>
        <p:spPr>
          <a:xfrm>
            <a:off x="8366760" y="184160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884048" y="2932481"/>
            <a:ext cx="791894" cy="420624"/>
          </a:xfrm>
          <a:prstGeom prst="line">
            <a:avLst/>
          </a:prstGeom>
          <a:noFill/>
          <a:ln w="15875">
            <a:solidFill>
              <a:srgbClr val="3C4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90142" y="2703881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/>
        </p:spPr>
      </p:sp>
      <p:sp>
        <p:nvSpPr>
          <p:cNvPr id="11" name="Text 9"/>
          <p:cNvSpPr/>
          <p:nvPr/>
        </p:nvSpPr>
        <p:spPr>
          <a:xfrm>
            <a:off x="9990142" y="2703881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884048" y="4236415"/>
            <a:ext cx="791894" cy="420624"/>
          </a:xfrm>
          <a:prstGeom prst="line">
            <a:avLst/>
          </a:prstGeom>
          <a:noFill/>
          <a:ln w="15875">
            <a:solidFill>
              <a:srgbClr val="3C4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90142" y="4428439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/>
        </p:spPr>
      </p:sp>
      <p:sp>
        <p:nvSpPr>
          <p:cNvPr id="14" name="Text 12"/>
          <p:cNvSpPr/>
          <p:nvPr/>
        </p:nvSpPr>
        <p:spPr>
          <a:xfrm>
            <a:off x="9990142" y="442843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4678070"/>
            <a:ext cx="9144" cy="841248"/>
          </a:xfrm>
          <a:prstGeom prst="line">
            <a:avLst/>
          </a:prstGeom>
          <a:noFill/>
          <a:ln w="15875">
            <a:solidFill>
              <a:srgbClr val="3C4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5290718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529071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Sev. Check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29178" y="4236415"/>
            <a:ext cx="791894" cy="420624"/>
          </a:xfrm>
          <a:prstGeom prst="line">
            <a:avLst/>
          </a:prstGeom>
          <a:noFill/>
          <a:ln w="15875">
            <a:solidFill>
              <a:srgbClr val="3C4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3378" y="4428439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/>
        </p:spPr>
      </p:sp>
      <p:sp>
        <p:nvSpPr>
          <p:cNvPr id="20" name="Text 18"/>
          <p:cNvSpPr/>
          <p:nvPr/>
        </p:nvSpPr>
        <p:spPr>
          <a:xfrm>
            <a:off x="6743378" y="442843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29178" y="2932481"/>
            <a:ext cx="791894" cy="420624"/>
          </a:xfrm>
          <a:prstGeom prst="line">
            <a:avLst/>
          </a:prstGeom>
          <a:noFill/>
          <a:ln w="15875">
            <a:solidFill>
              <a:srgbClr val="3C4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3378" y="2703881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/>
        </p:spPr>
      </p:sp>
      <p:sp>
        <p:nvSpPr>
          <p:cNvPr id="23" name="Text 21"/>
          <p:cNvSpPr/>
          <p:nvPr/>
        </p:nvSpPr>
        <p:spPr>
          <a:xfrm>
            <a:off x="6743378" y="2703881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LLM manager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48640" y="19659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“call doc_retrieval next” is a deterministic function of already-known category/severity — an LLM-manager call here would add a full round-trip to every single request. The single biggest latency lever in the system.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0815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peer-to-peer negotiation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48640" y="3447288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agent-to-agent chatter is hard to audit and hard to bound for an SLO-governed system. Hard, code-enforced loop-count guards replace it.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628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specialist peers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48640" y="4928616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specialist agents sit below one supervisor. Even the concurrent doc_retrieval ∥ account_validation fan-out is centrally dispatched and reconverged — never agent-to-agent.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specialists, one supervisor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LLM-calling agent shares the same Azure OpenAI deployment (gpt-5-mini) — differentiated entirely by reasoning_effort, tuned per task.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911096"/>
            <a:ext cx="566928" cy="56692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7" name="Image 0" descr="/home/claude/pptx_project/icons/brai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439" y="204715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15258" y="1901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2542032"/>
            <a:ext cx="30763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Classification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" y="2852928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category &amp; initial severity; entry node.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768096" y="339242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338328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minimal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920240" y="3392424"/>
            <a:ext cx="1924202" cy="219456"/>
          </a:xfrm>
          <a:prstGeom prst="roundRect">
            <a:avLst>
              <a:gd name="adj" fmla="val 50000"/>
            </a:avLst>
          </a:prstGeom>
          <a:solidFill>
            <a:srgbClr val="F5EFE0"/>
          </a:solidFill>
          <a:ln/>
        </p:spPr>
      </p:sp>
      <p:sp>
        <p:nvSpPr>
          <p:cNvPr id="14" name="Text 11"/>
          <p:cNvSpPr/>
          <p:nvPr/>
        </p:nvSpPr>
        <p:spPr>
          <a:xfrm>
            <a:off x="1920240" y="3383280"/>
            <a:ext cx="19242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338218" y="173736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11954" y="1911096"/>
            <a:ext cx="566928" cy="56692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17" name="Image 1" descr="/home/claude/pptx_project/icons/search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017" y="2047159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04837" y="1901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57674" y="2542032"/>
            <a:ext cx="30763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Retrieval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57674" y="2852928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hybrid_search(); answers directly on RAG-alone queries.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4557674" y="339242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22" name="Text 18"/>
          <p:cNvSpPr/>
          <p:nvPr/>
        </p:nvSpPr>
        <p:spPr>
          <a:xfrm>
            <a:off x="4557674" y="338328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709818" y="3392424"/>
            <a:ext cx="1924202" cy="219456"/>
          </a:xfrm>
          <a:prstGeom prst="roundRect">
            <a:avLst>
              <a:gd name="adj" fmla="val 50000"/>
            </a:avLst>
          </a:prstGeom>
          <a:solidFill>
            <a:srgbClr val="F5EFE0"/>
          </a:solidFill>
          <a:ln/>
        </p:spPr>
      </p:sp>
      <p:sp>
        <p:nvSpPr>
          <p:cNvPr id="24" name="Text 20"/>
          <p:cNvSpPr/>
          <p:nvPr/>
        </p:nvSpPr>
        <p:spPr>
          <a:xfrm>
            <a:off x="5709818" y="3383280"/>
            <a:ext cx="19242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Hybrid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8127797" y="173736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01533" y="1911096"/>
            <a:ext cx="566928" cy="56692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27" name="Image 2" descr="/home/claude/pptx_project/icons/databas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596" y="2047159"/>
            <a:ext cx="294803" cy="29480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094415" y="1901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347253" y="2542032"/>
            <a:ext cx="30763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Validation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347253" y="2852928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customer/ticket/incident data via whitelisted tools.</a:t>
            </a:r>
            <a:endParaRPr lang="en-US" sz="980" dirty="0"/>
          </a:p>
        </p:txBody>
      </p:sp>
      <p:sp>
        <p:nvSpPr>
          <p:cNvPr id="31" name="Shape 26"/>
          <p:cNvSpPr/>
          <p:nvPr/>
        </p:nvSpPr>
        <p:spPr>
          <a:xfrm>
            <a:off x="8347253" y="339242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32" name="Text 27"/>
          <p:cNvSpPr/>
          <p:nvPr/>
        </p:nvSpPr>
        <p:spPr>
          <a:xfrm>
            <a:off x="8347253" y="338328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minimal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9499397" y="3392424"/>
            <a:ext cx="1924202" cy="219456"/>
          </a:xfrm>
          <a:prstGeom prst="roundRect">
            <a:avLst>
              <a:gd name="adj" fmla="val 50000"/>
            </a:avLst>
          </a:prstGeom>
          <a:solidFill>
            <a:srgbClr val="F5EFE0"/>
          </a:solidFill>
          <a:ln/>
        </p:spPr>
      </p:sp>
      <p:sp>
        <p:nvSpPr>
          <p:cNvPr id="34" name="Text 29"/>
          <p:cNvSpPr/>
          <p:nvPr/>
        </p:nvSpPr>
        <p:spPr>
          <a:xfrm>
            <a:off x="9499397" y="3383280"/>
            <a:ext cx="19242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Hybrid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548640" y="397764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722376" y="4151376"/>
            <a:ext cx="566928" cy="56692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37" name="Image 3" descr="/home/claude/pptx_project/icons/warnin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39" y="4287439"/>
            <a:ext cx="294803" cy="294803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515258" y="4142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768096" y="4782312"/>
            <a:ext cx="30763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Severity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768096" y="5093208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active incidents against escalation hierarchy.</a:t>
            </a:r>
            <a:endParaRPr lang="en-US" sz="980" dirty="0"/>
          </a:p>
        </p:txBody>
      </p:sp>
      <p:sp>
        <p:nvSpPr>
          <p:cNvPr id="41" name="Shape 35"/>
          <p:cNvSpPr/>
          <p:nvPr/>
        </p:nvSpPr>
        <p:spPr>
          <a:xfrm>
            <a:off x="768096" y="563270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42" name="Text 36"/>
          <p:cNvSpPr/>
          <p:nvPr/>
        </p:nvSpPr>
        <p:spPr>
          <a:xfrm>
            <a:off x="768096" y="562356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1920240" y="5632704"/>
            <a:ext cx="1924202" cy="219456"/>
          </a:xfrm>
          <a:prstGeom prst="roundRect">
            <a:avLst>
              <a:gd name="adj" fmla="val 50000"/>
            </a:avLst>
          </a:prstGeom>
          <a:solidFill>
            <a:srgbClr val="F5EFE0"/>
          </a:solidFill>
          <a:ln/>
        </p:spPr>
      </p:sp>
      <p:sp>
        <p:nvSpPr>
          <p:cNvPr id="44" name="Text 38"/>
          <p:cNvSpPr/>
          <p:nvPr/>
        </p:nvSpPr>
        <p:spPr>
          <a:xfrm>
            <a:off x="1920240" y="5623560"/>
            <a:ext cx="19242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4338218" y="397764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4511954" y="4151376"/>
            <a:ext cx="566928" cy="56692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47" name="Image 4" descr="/home/claude/pptx_project/icons/ey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017" y="4287439"/>
            <a:ext cx="294803" cy="294803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304837" y="4142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4557674" y="4782312"/>
            <a:ext cx="30763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1350" dirty="0"/>
          </a:p>
        </p:txBody>
      </p:sp>
      <p:sp>
        <p:nvSpPr>
          <p:cNvPr id="50" name="Text 43"/>
          <p:cNvSpPr/>
          <p:nvPr/>
        </p:nvSpPr>
        <p:spPr>
          <a:xfrm>
            <a:off x="4557674" y="5093208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fusion quality + self-critique + citation-overlap into a confidence score; can loop back once.</a:t>
            </a:r>
            <a:endParaRPr lang="en-US" sz="980" dirty="0"/>
          </a:p>
        </p:txBody>
      </p:sp>
      <p:sp>
        <p:nvSpPr>
          <p:cNvPr id="51" name="Shape 44"/>
          <p:cNvSpPr/>
          <p:nvPr/>
        </p:nvSpPr>
        <p:spPr>
          <a:xfrm>
            <a:off x="4557674" y="563270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52" name="Text 45"/>
          <p:cNvSpPr/>
          <p:nvPr/>
        </p:nvSpPr>
        <p:spPr>
          <a:xfrm>
            <a:off x="4557674" y="562356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5709818" y="5632704"/>
            <a:ext cx="1924202" cy="219456"/>
          </a:xfrm>
          <a:prstGeom prst="roundRect">
            <a:avLst>
              <a:gd name="adj" fmla="val 50000"/>
            </a:avLst>
          </a:prstGeom>
          <a:solidFill>
            <a:srgbClr val="F5EFE0"/>
          </a:solidFill>
          <a:ln/>
        </p:spPr>
      </p:sp>
      <p:sp>
        <p:nvSpPr>
          <p:cNvPr id="54" name="Text 47"/>
          <p:cNvSpPr/>
          <p:nvPr/>
        </p:nvSpPr>
        <p:spPr>
          <a:xfrm>
            <a:off x="5709818" y="5623560"/>
            <a:ext cx="19242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800" dirty="0"/>
          </a:p>
        </p:txBody>
      </p:sp>
      <p:sp>
        <p:nvSpPr>
          <p:cNvPr id="55" name="Shape 48"/>
          <p:cNvSpPr/>
          <p:nvPr/>
        </p:nvSpPr>
        <p:spPr>
          <a:xfrm>
            <a:off x="8127797" y="397764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8301533" y="4151376"/>
            <a:ext cx="566928" cy="56692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57" name="Image 5" descr="/home/claude/pptx_project/icons/handshak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7596" y="4287439"/>
            <a:ext cx="294803" cy="294803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11094415" y="41422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100" dirty="0"/>
          </a:p>
        </p:txBody>
      </p:sp>
      <p:sp>
        <p:nvSpPr>
          <p:cNvPr id="59" name="Text 51"/>
          <p:cNvSpPr/>
          <p:nvPr/>
        </p:nvSpPr>
        <p:spPr>
          <a:xfrm>
            <a:off x="8347253" y="4782312"/>
            <a:ext cx="30763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Manager</a:t>
            </a:r>
            <a:endParaRPr lang="en-US" sz="1350" dirty="0"/>
          </a:p>
        </p:txBody>
      </p:sp>
      <p:sp>
        <p:nvSpPr>
          <p:cNvPr id="60" name="Text 52"/>
          <p:cNvSpPr/>
          <p:nvPr/>
        </p:nvSpPr>
        <p:spPr>
          <a:xfrm>
            <a:off x="8347253" y="5093208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internal human hand-off summary and notifies via MCP.</a:t>
            </a:r>
            <a:endParaRPr lang="en-US" sz="980" dirty="0"/>
          </a:p>
        </p:txBody>
      </p:sp>
      <p:sp>
        <p:nvSpPr>
          <p:cNvPr id="61" name="Shape 53"/>
          <p:cNvSpPr/>
          <p:nvPr/>
        </p:nvSpPr>
        <p:spPr>
          <a:xfrm>
            <a:off x="8347253" y="563270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62" name="Text 54"/>
          <p:cNvSpPr/>
          <p:nvPr/>
        </p:nvSpPr>
        <p:spPr>
          <a:xfrm>
            <a:off x="8347253" y="562356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9499397" y="5632704"/>
            <a:ext cx="1924202" cy="219456"/>
          </a:xfrm>
          <a:prstGeom prst="roundRect">
            <a:avLst>
              <a:gd name="adj" fmla="val 50000"/>
            </a:avLst>
          </a:prstGeom>
          <a:solidFill>
            <a:srgbClr val="F5EFE0"/>
          </a:solidFill>
          <a:ln/>
        </p:spPr>
      </p:sp>
      <p:sp>
        <p:nvSpPr>
          <p:cNvPr id="64" name="Text 56"/>
          <p:cNvSpPr/>
          <p:nvPr/>
        </p:nvSpPr>
        <p:spPr>
          <a:xfrm>
            <a:off x="9499397" y="5623560"/>
            <a:ext cx="19242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66" name="Text 5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graph — every branch, every guard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481328"/>
            <a:ext cx="667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00200" y="1481328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55064" y="1481328"/>
            <a:ext cx="1216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classify_node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1417320" cy="676656"/>
          </a:xfrm>
          <a:prstGeom prst="diamond">
            <a:avLst/>
          </a:prstGeom>
          <a:solidFill>
            <a:srgbClr val="F5EFE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371600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6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/ out-of-</a:t>
            </a:r>
            <a:endParaRPr lang="en-US" sz="760" dirty="0"/>
          </a:p>
          <a:p>
            <a:pPr algn="ctr" indent="0" marL="0">
              <a:lnSpc>
                <a:spcPts val="860"/>
              </a:lnSpc>
              <a:buNone/>
            </a:pPr>
            <a:r>
              <a:rPr lang="en-US" sz="76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short-</a:t>
            </a:r>
            <a:endParaRPr lang="en-US" sz="760" dirty="0"/>
          </a:p>
          <a:p>
            <a:pPr algn="ctr" indent="0" marL="0">
              <a:lnSpc>
                <a:spcPts val="860"/>
              </a:lnSpc>
              <a:buNone/>
            </a:pPr>
            <a:r>
              <a:rPr lang="en-US" sz="76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circuit?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4937760" y="14813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5EFE0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48132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3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router_node</a:t>
            </a:r>
            <a:endParaRPr lang="en-US" sz="830" dirty="0"/>
          </a:p>
          <a:p>
            <a:pPr algn="ctr" indent="0" marL="0">
              <a:lnSpc>
                <a:spcPts val="980"/>
              </a:lnSpc>
              <a:buNone/>
            </a:pPr>
            <a:r>
              <a:rPr lang="en-US" sz="83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(deterministic)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1325880" y="1709928"/>
            <a:ext cx="274320" cy="914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1709928"/>
            <a:ext cx="274320" cy="914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1709928"/>
            <a:ext cx="320040" cy="914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063240" y="21396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straight to escalate_node, or out_of_scope_refusal_node (fixed text, no LLM call) — both go directly to END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487168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2487168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→  doc_retrieval_node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2487168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52544" y="2487168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→  account_validation_node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46720" y="2487168"/>
            <a:ext cx="3044952" cy="566928"/>
          </a:xfrm>
          <a:prstGeom prst="roundRect">
            <a:avLst>
              <a:gd name="adj" fmla="val 12903"/>
            </a:avLst>
          </a:prstGeom>
          <a:solidFill>
            <a:srgbClr val="1A2436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01584" y="2487168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Critical  →  Send() fan-out,</a:t>
            </a:r>
            <a:endParaRPr lang="en-US" sz="830" dirty="0"/>
          </a:p>
          <a:p>
            <a:pPr algn="ctr" indent="0" marL="0">
              <a:lnSpc>
                <a:spcPts val="98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concurrently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2948940" y="1938528"/>
            <a:ext cx="2171700" cy="548640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26380" y="1938528"/>
            <a:ext cx="297180" cy="548640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26480" y="1938528"/>
            <a:ext cx="2194560" cy="548640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68880" y="3383280"/>
            <a:ext cx="7223760" cy="548640"/>
          </a:xfrm>
          <a:prstGeom prst="roundRect">
            <a:avLst>
              <a:gd name="adj" fmla="val 13333"/>
            </a:avLst>
          </a:prstGeom>
          <a:solidFill>
            <a:srgbClr val="F5EFE0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23744" y="3383280"/>
            <a:ext cx="7114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2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Check (conditional) — incident_severity_node, only when category ∈ {incident, security} or route = Critical.</a:t>
            </a:r>
            <a:endParaRPr lang="en-US" sz="820" dirty="0"/>
          </a:p>
          <a:p>
            <a:pPr algn="ctr" indent="0" marL="0">
              <a:lnSpc>
                <a:spcPts val="970"/>
              </a:lnSpc>
              <a:buNone/>
            </a:pPr>
            <a:r>
              <a:rPr lang="en-US" sz="82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active incidents against the escalation-hierarchy diagram; escalates immediately if genuinely Critical &amp; relevant.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263140" y="3054096"/>
            <a:ext cx="1577340" cy="329184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12180" y="3054096"/>
            <a:ext cx="22860" cy="329184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29600" y="3054096"/>
            <a:ext cx="1339596" cy="329184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194560" y="425196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49424" y="4251960"/>
            <a:ext cx="2176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reflect_node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confidence score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4123944"/>
            <a:ext cx="1554480" cy="822960"/>
          </a:xfrm>
          <a:prstGeom prst="diamond">
            <a:avLst/>
          </a:prstGeom>
          <a:solidFill>
            <a:srgbClr val="F5EFE0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412394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6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decide_action()</a:t>
            </a:r>
            <a:endParaRPr lang="en-US" sz="760" dirty="0"/>
          </a:p>
          <a:p>
            <a:pPr algn="ctr" indent="0" marL="0">
              <a:lnSpc>
                <a:spcPts val="860"/>
              </a:lnSpc>
              <a:buNone/>
            </a:pPr>
            <a:r>
              <a:rPr lang="en-US" sz="76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tier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6583680" y="425196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2436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38544" y="4251960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escalate_node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732520" y="425196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2436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787384" y="4251960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respond_node</a:t>
            </a:r>
            <a:endParaRPr lang="en-US" sz="860" dirty="0"/>
          </a:p>
          <a:p>
            <a:pPr algn="ctr" indent="0" marL="0">
              <a:lnSpc>
                <a:spcPts val="101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(deterministic)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3337560" y="3931920"/>
            <a:ext cx="2743200" cy="320040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480560" y="4535424"/>
            <a:ext cx="228600" cy="914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263640" y="4389120"/>
            <a:ext cx="320040" cy="914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263640" y="4535424"/>
            <a:ext cx="914" cy="448056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4983480"/>
            <a:ext cx="2743200" cy="914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06840" y="4818888"/>
            <a:ext cx="914" cy="164592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headEnd type="triangle"/>
          </a:ln>
        </p:spPr>
      </p:sp>
      <p:sp>
        <p:nvSpPr>
          <p:cNvPr id="44" name="Shape 42"/>
          <p:cNvSpPr/>
          <p:nvPr/>
        </p:nvSpPr>
        <p:spPr>
          <a:xfrm>
            <a:off x="7680960" y="5138928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35824" y="5138928"/>
            <a:ext cx="2770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98080" y="4818888"/>
            <a:ext cx="1097280" cy="320040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144000" y="4818888"/>
            <a:ext cx="502920" cy="320040"/>
          </a:xfrm>
          <a:prstGeom prst="line">
            <a:avLst/>
          </a:prstGeom>
          <a:noFill/>
          <a:ln w="1778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371600" y="3054096"/>
            <a:ext cx="914" cy="1481328"/>
          </a:xfrm>
          <a:prstGeom prst="line">
            <a:avLst/>
          </a:prstGeom>
          <a:noFill/>
          <a:ln w="17780">
            <a:solidFill>
              <a:srgbClr val="8A6D1A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371600" y="4535424"/>
            <a:ext cx="822960" cy="914"/>
          </a:xfrm>
          <a:prstGeom prst="line">
            <a:avLst/>
          </a:prstGeom>
          <a:noFill/>
          <a:ln w="17780">
            <a:solidFill>
              <a:srgbClr val="8A6D1A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371600" y="3054096"/>
            <a:ext cx="914" cy="914"/>
          </a:xfrm>
          <a:prstGeom prst="line">
            <a:avLst/>
          </a:prstGeom>
          <a:noFill/>
          <a:ln w="17780">
            <a:solidFill>
              <a:srgbClr val="8A6D1A"/>
            </a:solidFill>
            <a:prstDash val="dash"/>
            <a:headEnd type="triangle"/>
          </a:ln>
        </p:spPr>
      </p:sp>
      <p:sp>
        <p:nvSpPr>
          <p:cNvPr id="51" name="Text 49"/>
          <p:cNvSpPr/>
          <p:nvPr/>
        </p:nvSpPr>
        <p:spPr>
          <a:xfrm>
            <a:off x="502920" y="424281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i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→ doc_retrieval loop-back (ungrounded, ≤ 1 retry)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48640" y="570585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loop-prevention guarantees: 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063240" y="5705856"/>
            <a:ext cx="836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per-cycle counters hard-capped at 1 (retrieval retry, reflect loop-back)   ② terminal nodes (respond / escalate / refuse) have only outbound edges to END   ③ a hard recursion_limit = 15 circuit breaker on every invocation.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48640" y="619963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directly: an adversarial test with a mock LLM that always returns low-confidence, ungrounded output still reaches END within a bounded step count.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search: vector + keyword + LLM rerank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658368"/>
          </a:xfrm>
          <a:prstGeom prst="roundRect">
            <a:avLst>
              <a:gd name="adj" fmla="val 125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46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208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cosine · HNSW · top-K 20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2743200" cy="658368"/>
          </a:xfrm>
          <a:prstGeom prst="roundRect">
            <a:avLst>
              <a:gd name="adj" fmla="val 125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587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62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tsvector · ts_rank_cd · top-K 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94760" y="1691640"/>
            <a:ext cx="2880360" cy="1545336"/>
          </a:xfrm>
          <a:prstGeom prst="roundRect">
            <a:avLst>
              <a:gd name="adj" fmla="val 5325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95928" y="1837944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Rank Fusion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995928" y="2221992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RRF(d) = Σ 1 / (60 + rankᵢ(d))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95928" y="2560320"/>
            <a:ext cx="2478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Rank-based — sidesteps calibrating incompatible cosine vs. ts_rank_cd scales.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78040" y="1691640"/>
            <a:ext cx="2880360" cy="1545336"/>
          </a:xfrm>
          <a:prstGeom prst="roundRect">
            <a:avLst>
              <a:gd name="adj" fmla="val 5325"/>
            </a:avLst>
          </a:prstGeom>
          <a:solidFill>
            <a:srgbClr val="1A2436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79208" y="1837944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Rerank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79208" y="2221992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top-10 → structured 0–10 relevance scoring → top-5 kept.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79208" y="2788920"/>
            <a:ext cx="2478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Azure LLM — no local cross-encoder to manage.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2464308"/>
            <a:ext cx="502920" cy="914"/>
          </a:xfrm>
          <a:prstGeom prst="line">
            <a:avLst/>
          </a:prstGeom>
          <a:noFill/>
          <a:ln w="1905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75120" y="2464308"/>
            <a:ext cx="502920" cy="914"/>
          </a:xfrm>
          <a:prstGeom prst="line">
            <a:avLst/>
          </a:prstGeom>
          <a:noFill/>
          <a:ln w="19050">
            <a:solidFill>
              <a:srgbClr val="AEB8C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858768"/>
            <a:ext cx="82296" cy="82296"/>
          </a:xfrm>
          <a:prstGeom prst="ellipse">
            <a:avLst/>
          </a:prstGeom>
          <a:solidFill>
            <a:srgbClr val="8A6D1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307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legs query all four asset tables — chunks, tables, images, diagram graphs — each gets its own top-K first so no asset type starves another.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82296" cy="82296"/>
          </a:xfrm>
          <a:prstGeom prst="ellipse">
            <a:avLst/>
          </a:prstGeom>
          <a:solidFill>
            <a:srgbClr val="8A6D1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1538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 filters on is_active, so soft-retired documents never resurface in results.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828032"/>
            <a:ext cx="82296" cy="82296"/>
          </a:xfrm>
          <a:prstGeom prst="ellipse">
            <a:avLst/>
          </a:prstGeom>
          <a:solidFill>
            <a:srgbClr val="8A6D1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000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filters (category, product_version) apply as a pre-filter WHERE clause combined with pgvector's filtered ANN search — not post-hoc.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312664"/>
            <a:ext cx="82296" cy="82296"/>
          </a:xfrm>
          <a:prstGeom prst="ellipse">
            <a:avLst/>
          </a:prstGeom>
          <a:solidFill>
            <a:srgbClr val="8A6D1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846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recursive chunking: numbered-header split first, then a ~400-token recursive sub-split with 15% overlap — tuned to this corpus, not generic semantic chunking.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815584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3232" y="581558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63040" y="58155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PDFS INGESTED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63240" y="5815584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27832" y="581558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977640" y="58155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TABLES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5815584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42432" y="581558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92240" y="58155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DIAGRAMS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tables — and a SQL surface that can't be injected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structured lookup is built with select(Model).where(Model.column == python_value) only — never text() or string interpolation. There is no free-text-to-SQL path anywhere in the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317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get_customer(customer_id)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23317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lookup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89320" y="233172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Customer-specific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12724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get_tickets(customer_id)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312724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FK join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89320" y="312724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Customer-specific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2277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get_incidents(customer_id)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392277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match, no FK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9320" y="3922776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Region-relevant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718304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7183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get_active_incidents()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47183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arguments, system-wide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89320" y="4718304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Severity-agent only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555955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directly in plain Python by orchestration nodes, before the LLM prompt is even built — never exposed to the LLM as an invocable tool.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3524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BY DOMAIN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35240" y="2331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users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35240" y="25877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password_reset_tokens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35240" y="30815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635240" y="3337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· messages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35240" y="38313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Course-provided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35240" y="40873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support_tickets · incident_logs · knowledge_article_usage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35240" y="45811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635240" y="483717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document_versions · ingested_assets · chunks · tables · images · diagram_graphs · ingestion_jobs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35240" y="53309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&amp; eval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635240" y="558698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escalation_log · notification_log · evaluation_runs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depth, not a single filter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3246120"/>
          </a:xfrm>
          <a:prstGeom prst="roundRect">
            <a:avLst>
              <a:gd name="adj" fmla="val 253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86537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6" name="Image 0" descr="/home/claude/pptx_project/icons/shie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384" y="202338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624328"/>
            <a:ext cx="30397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guardrail — two layers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6384" y="3172968"/>
            <a:ext cx="303977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 (hard block): classify_node's own out_of_scope category short-circuits straight to a fixed refusal — no retrieval, no generation.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786384" y="4087368"/>
            <a:ext cx="303977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 (soft signal): corpus-centroid cosine similarity flags likely off-topic queries as defense in depth, never the sole gate.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38218" y="1691640"/>
            <a:ext cx="3515258" cy="3246120"/>
          </a:xfrm>
          <a:prstGeom prst="roundRect">
            <a:avLst>
              <a:gd name="adj" fmla="val 253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1954" y="186537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12" name="Image 1" descr="/home/claude/pptx_project/icons/lo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963" y="2023384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5962" y="2624328"/>
            <a:ext cx="30397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redaction, precisely scoped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5962" y="3172968"/>
            <a:ext cx="303977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Presidio, scoped to exactly EMAIL_ADDRESS and PHONE_NUMBER after direct schema inspection found no other live PII surface.</a:t>
            </a:r>
            <a:endParaRPr lang="en-US" sz="1030" dirty="0"/>
          </a:p>
        </p:txBody>
      </p:sp>
      <p:sp>
        <p:nvSpPr>
          <p:cNvPr id="15" name="Text 11"/>
          <p:cNvSpPr/>
          <p:nvPr/>
        </p:nvSpPr>
        <p:spPr>
          <a:xfrm>
            <a:off x="4575962" y="4087368"/>
            <a:ext cx="303977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via asyncio.to_thread() so CPU-bound spaCy work never silently serializes the concurrent Hybrid fan-out.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8127797" y="1691640"/>
            <a:ext cx="3515258" cy="3246120"/>
          </a:xfrm>
          <a:prstGeom prst="roundRect">
            <a:avLst>
              <a:gd name="adj" fmla="val 253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1533" y="186537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18" name="Image 2" descr="/home/claude/pptx_project/icons/commen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541" y="2023384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5541" y="2624328"/>
            <a:ext cx="30397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Prompt-injection defense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65541" y="3172968"/>
            <a:ext cx="303977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agent's role instructions carry one explicit clause, written once and imported: treat retrieved content and history as data, never instructions.</a:t>
            </a:r>
            <a:endParaRPr lang="en-US" sz="1030" dirty="0"/>
          </a:p>
        </p:txBody>
      </p:sp>
      <p:sp>
        <p:nvSpPr>
          <p:cNvPr id="21" name="Text 16"/>
          <p:cNvSpPr/>
          <p:nvPr/>
        </p:nvSpPr>
        <p:spPr>
          <a:xfrm>
            <a:off x="8365541" y="4087368"/>
            <a:ext cx="303977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tested directly — injected instructions inside mocked retrieval content are asserted to be ignored.</a:t>
            </a:r>
            <a:endParaRPr lang="en-US" sz="103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59536" y="5404104"/>
            <a:ext cx="566928" cy="566928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24" name="Image 3" descr="/home/claude/pptx_project/icons/databas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99" y="5540167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533095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— structurally impossible, not just defended against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600200" y="563270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free-text-to-SQL path exists anywhere in the system — every access runs through the whitelisted, parametrized tool surface in §16, full stop.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not to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TIERS  →  ESCALATION MATRIX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05200" cy="1051560"/>
          </a:xfrm>
          <a:prstGeom prst="roundRect">
            <a:avLst>
              <a:gd name="adj" fmla="val 782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313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9424"/>
            <a:ext cx="313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0.85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505456"/>
            <a:ext cx="313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Auto-respond, no flag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36720" y="1828800"/>
            <a:ext cx="3505200" cy="1051560"/>
          </a:xfrm>
          <a:prstGeom prst="roundRect">
            <a:avLst>
              <a:gd name="adj" fmla="val 7826"/>
            </a:avLst>
          </a:prstGeom>
          <a:solidFill>
            <a:srgbClr val="F5EFE0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9600" y="1920240"/>
            <a:ext cx="313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19600" y="2249424"/>
            <a:ext cx="313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 – 0.85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19600" y="2505456"/>
            <a:ext cx="313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Auto-respond, flagged for QA sampling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24800" y="1828800"/>
            <a:ext cx="3505200" cy="1051560"/>
          </a:xfrm>
          <a:prstGeom prst="roundRect">
            <a:avLst>
              <a:gd name="adj" fmla="val 7826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07680" y="1920240"/>
            <a:ext cx="313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07680" y="2249424"/>
            <a:ext cx="313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0.70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07680" y="2505456"/>
            <a:ext cx="313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escalation to a human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9992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severity == Critical always escalates outright, regardless of confidence — calibrated fresh from real golden-eval runs, not hardcoded guesses.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HALLUCINATION MITIGATION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1883664" cy="1691640"/>
          </a:xfrm>
          <a:prstGeom prst="roundRect">
            <a:avLst>
              <a:gd name="adj" fmla="val 486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" y="40142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" y="441655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by construction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" y="4910328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facts come straight from parametrized queries — the LLM only narrates real data, never invents it.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2798064" y="3886200"/>
            <a:ext cx="1883664" cy="1691640"/>
          </a:xfrm>
          <a:prstGeom prst="roundRect">
            <a:avLst>
              <a:gd name="adj" fmla="val 486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44368" y="40142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944368" y="441655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prompt discipline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44368" y="4910328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is instructed to answer only from retrieved evidence, with a grounded-refusal few-shot example.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047488" y="3886200"/>
            <a:ext cx="1883664" cy="1691640"/>
          </a:xfrm>
          <a:prstGeom prst="roundRect">
            <a:avLst>
              <a:gd name="adj" fmla="val 486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93792" y="40142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441655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Dual-check groundedness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93792" y="4910328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reflect_node blends fusion-score quality + LLM self-critique + a rule-based citation-overlap check — not self-assessment alone.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7296912" y="3886200"/>
            <a:ext cx="1883664" cy="1691640"/>
          </a:xfrm>
          <a:prstGeom prst="roundRect">
            <a:avLst>
              <a:gd name="adj" fmla="val 486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43216" y="40142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43216" y="441655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confidence gating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43216" y="4910328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tier always escalates instead of guessing.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9546336" y="3886200"/>
            <a:ext cx="1883664" cy="1691640"/>
          </a:xfrm>
          <a:prstGeom prst="roundRect">
            <a:avLst>
              <a:gd name="adj" fmla="val 486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692640" y="40142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692640" y="441655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Golden-eval hallucination scoring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92640" y="4910328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RAGAS-style Faithfulness grades every golden-eval answer for unsupported claims.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by real QA, fixed, and regression-tested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frontend QA and golden-eval measurement — not just synthetic unit tests — surfaced real routing and merge-logic bugs. Every one is fixed, documented, and covered by a dedicated regression test.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2295144"/>
            <a:ext cx="475488" cy="475488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7" name="Image 0" descr="/home/claude/pptx_project/icons/bu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061" y="2409261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95144"/>
            <a:ext cx="2555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route badge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retrieval_mode never updated after the reflect-retry loop pulled doc_retrieval into a SQL-only query. Fixed: promotes to Hybrid on that fallback.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4338218" y="214884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4522" y="2295144"/>
            <a:ext cx="475488" cy="475488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12" name="Image 1" descr="/home/claude/pptx_project/icons/bu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640" y="2409261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5458" y="2295144"/>
            <a:ext cx="2555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Self-contradictory merges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39386" y="2880360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stale, account-blind denial could sit next to a real SQL answer. Fixed at the real merge point using each side's own evidence_sufficient signal.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8127797" y="214884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4101" y="2295144"/>
            <a:ext cx="475488" cy="475488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17" name="Image 2" descr="/home/claude/pptx_project/icons/bug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218" y="2409261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05037" y="2295144"/>
            <a:ext cx="2555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over-triggering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28965" y="2880360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active Critical incident anywhere was raising severity, regardless of relevance. Fixed: requires genuine relevance to the query, not co-occurrence.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548640" y="4187952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" y="4334256"/>
            <a:ext cx="475488" cy="475488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22" name="Image 3" descr="/home/claude/pptx_project/icons/bu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61" y="4448373"/>
            <a:ext cx="247254" cy="2472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334256"/>
            <a:ext cx="2555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Langfuse blind spot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9808" y="4919472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set metadata but never input=/output=, so traces showed null despite real data existing. Fixed by threading real input/output through every span.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4338218" y="4187952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4522" y="4334256"/>
            <a:ext cx="475488" cy="475488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27" name="Image 4" descr="/home/claude/pptx_project/icons/bug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640" y="4448373"/>
            <a:ext cx="247254" cy="24725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15458" y="4334256"/>
            <a:ext cx="2555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Redis-outage 500s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39386" y="4919472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rate-limiter field was only set on the success path, so a Redis outage 500'd every request. Fixed by seeding it defensively up front.</a:t>
            </a:r>
            <a:endParaRPr lang="en-US" sz="960" dirty="0"/>
          </a:p>
        </p:txBody>
      </p:sp>
      <p:sp>
        <p:nvSpPr>
          <p:cNvPr id="30" name="Shape 23"/>
          <p:cNvSpPr/>
          <p:nvPr/>
        </p:nvSpPr>
        <p:spPr>
          <a:xfrm>
            <a:off x="8127797" y="4187952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74101" y="4334256"/>
            <a:ext cx="475488" cy="475488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32" name="Image 5" descr="/home/claude/pptx_project/icons/bug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218" y="4448373"/>
            <a:ext cx="247254" cy="24725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05037" y="4334256"/>
            <a:ext cx="2555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Cross-provider embedding bug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28965" y="4919472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from different providers were cosine-compared with zero cross-space awareness — reproduced live at 1.000. Fixed via embedding_namespace on every table, cache key, and filter.</a:t>
            </a:r>
            <a:endParaRPr lang="en-US" sz="960" dirty="0"/>
          </a:p>
        </p:txBody>
      </p:sp>
      <p:sp>
        <p:nvSpPr>
          <p:cNvPr id="35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evaluation harness, not a vibe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048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QUERIES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1572768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45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15/10/10/10/5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048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SPLIT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572768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645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2048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RAGAS-STYLE METRICS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15400" y="1572768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645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52560" y="2048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JUDGE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RAGAS-STYLE SCORERS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035808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3511296"/>
            <a:ext cx="21854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claims from the answer → verify each against retrieved context.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337560" y="3035808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0215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Relevance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02152" y="3511296"/>
            <a:ext cx="21854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3 fitting questions → embed → cosine similarity to the original query.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126480" y="3035808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9107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Precision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3511296"/>
            <a:ext cx="21854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judge call per retrieved item — relevant or not, against query + ground truth.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915400" y="3035808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7999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Recall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79992" y="3511296"/>
            <a:ext cx="21854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label-matched, not judge-based — avoids piling more judge calls onto an already call-heavy pass.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0881360" cy="1508760"/>
          </a:xfrm>
          <a:prstGeom prst="roundRect">
            <a:avLst>
              <a:gd name="adj" fmla="val 5455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1540" y="4933188"/>
            <a:ext cx="685800" cy="685800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31" name="Image 0" descr="/home/claude/pptx_project/icons/flas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5097780"/>
            <a:ext cx="356616" cy="35661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874520" y="4681728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judge, chosen for independence — not superiority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874520" y="5010912"/>
            <a:ext cx="9326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llama-3.3-70b-versatile grades the very model it's evaluating — a genuinely weaker model than gpt-5-mini, deliberately, to avoid the self-grading-bias problem an independent judge exists to catch. Every judge call is decomposed into small, atomic single-decision calls (extract one fact, verify one fact) since the judge has no deep multi-step reasoning of its own to lean on.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evaluation loop, driving real improvement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full golden-set recalibration passes, each measured before/after a real fix — not projected, not estimated.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92024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1A2436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2084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MISCLASSIFICATION RATE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01000" y="235915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→ 8.3%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01000" y="29260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~6× reduction after fixing the severity-relevance bug in §7 — the model no longer raises Critical on mere co-occurrence.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0" y="397764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01000" y="4133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MEETS TARGET TODAY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65008" y="441655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0" descr="/home/claude/pptx_project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234" y="4486778"/>
            <a:ext cx="152156" cy="1521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58200" y="4443984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(≥70%)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8065008" y="48463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/home/claude/pptx_project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34" y="4916546"/>
            <a:ext cx="152156" cy="1521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487375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0 unauthorized-access violations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8065008" y="527608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pptx_project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234" y="5346314"/>
            <a:ext cx="152156" cy="1521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58200" y="53035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red-team suite — 100% passing</a:t>
            </a:r>
            <a:endParaRPr lang="en-US" sz="1030" dirty="0"/>
          </a:p>
        </p:txBody>
      </p:sp>
      <p:sp>
        <p:nvSpPr>
          <p:cNvPr id="21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full-stack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9339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199339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Postgres-checkpointed (AsyncPostgresSaver)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275234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275234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slowapi rate limiting · SSE streaming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351129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351129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· 18 tables · 14 Alembic migrations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" y="427024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427024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embedding cache, metrics cache, JWT blacklist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" y="50292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50292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(gpt-oss-120b) + Gemini — real primary now; Azure winding down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548640" y="5788152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" y="578815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578815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PII redaction · Langfuse tracing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594360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1993392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63056" y="199339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199339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19.2 · Vite 8 · TypeScript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5943600" y="2752344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63056" y="275234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43800" y="275234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— CSS @theme tokens, dark mode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5943600" y="3511296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63056" y="351129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351129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· Zustand (auth state)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5943600" y="4270248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63056" y="427024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43800" y="427024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react-hook-form + zod validation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5943600" y="502920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63056" y="50292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43800" y="50292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SSE reader over fetch() (POST + auth header)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5943600" y="5788152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63056" y="578815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43800" y="578815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— full in-browser mock backend, zero-dependency demo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agent doing the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81965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6" name="Image 0" descr="/home/claude/pptx_project/icons/netwo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384" y="197766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7860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workflow diagram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94436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inline SVG of the real 9-node graph animates idle → active → done/escalate/error as real SSE events arrive — distinguishing genuine LLM agents from deterministic nodes visually.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53458" y="164592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7194" y="181965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11" name="Image 1" descr="/home/claude/pptx_project/icons/clipboar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203" y="197766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490" y="257860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trace dropdown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09490" y="294436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severity, route, confidence tier &amp; score, flags — surfaced per turn, not hidden in logs only an engineer can read.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58277" y="164592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2013" y="181965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16" name="Image 2" descr="/home/claude/pptx_project/icons/commen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021" y="197766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4309" y="257860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Type-differentiated citations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4309" y="294436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renders as a clickable, type-differentiated pill (table / SQL / diagram) — closing a real discoverability gap.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424281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21" name="Image 3" descr="/home/claude/pptx_project/icons/warnin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84" y="440082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0176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banner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36752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turns are visually marked inline, not silently dropped into the same bubble style as a normal answer.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53458" y="406908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7194" y="424281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26" name="Image 4" descr="/home/claude/pptx_project/icons/usershield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203" y="4400824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9490" y="500176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Type-ahead customer picker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09490" y="536752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combobox, not a raw ID field — built specifically to fix a discoverability gap agents had no way around otherwise.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58277" y="4069080"/>
            <a:ext cx="348477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2013" y="424281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31" name="Image 5" descr="/home/claude/pptx_project/icons/cogs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021" y="4400824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4309" y="5001768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mock mode (MSW)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14309" y="5367528"/>
            <a:ext cx="29727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VITE_USE_MOCKS=true runs the entire UI against a complete in-browser fake backend — zero database dependency to demo the product.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test suite, kept simple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048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1572768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45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048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EVERY PR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572768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645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2048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15400" y="1572768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645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52560" y="2048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 JOBS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3484778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" y="300837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18" name="Image 0" descr="/home/claude/pptx_project/icons/che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384" y="3166384"/>
            <a:ext cx="342351" cy="34235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04672" y="3767328"/>
            <a:ext cx="29727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every change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2" y="4224528"/>
            <a:ext cx="297271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of the 353 tests execute on every pull request — fast, deterministic, no live API calls needed.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4353458" y="2834640"/>
            <a:ext cx="3484778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27194" y="300837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23" name="Image 1" descr="/home/claude/pptx_project/icons/flas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203" y="3166384"/>
            <a:ext cx="342351" cy="34235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09490" y="3767328"/>
            <a:ext cx="29727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AI calls, kept separate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609490" y="4224528"/>
            <a:ext cx="297271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golden-eval tests call real LLMs to check actual answer quality, on their own slower track — not blocking every PR.</a:t>
            </a:r>
            <a:endParaRPr lang="en-US" sz="1030" dirty="0"/>
          </a:p>
        </p:txBody>
      </p:sp>
      <p:sp>
        <p:nvSpPr>
          <p:cNvPr id="26" name="Shape 22"/>
          <p:cNvSpPr/>
          <p:nvPr/>
        </p:nvSpPr>
        <p:spPr>
          <a:xfrm>
            <a:off x="8158277" y="2834640"/>
            <a:ext cx="3484778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436">
                <a:alpha val="14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32013" y="3008376"/>
            <a:ext cx="658368" cy="658368"/>
          </a:xfrm>
          <a:prstGeom prst="ellipse">
            <a:avLst/>
          </a:prstGeom>
          <a:solidFill>
            <a:srgbClr val="2B3A55"/>
          </a:solidFill>
          <a:ln/>
        </p:spPr>
      </p:sp>
      <p:pic>
        <p:nvPicPr>
          <p:cNvPr id="28" name="Image 2" descr="/home/claude/pptx_project/icons/cog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021" y="3166384"/>
            <a:ext cx="342351" cy="34235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14309" y="3767328"/>
            <a:ext cx="29727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CI pipeline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8414309" y="4224528"/>
            <a:ext cx="297271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backend-ci.yml: lint → test (real Postgres + pgvector and Redis service containers, Alembic migrations) → build → deploy.</a:t>
            </a:r>
            <a:endParaRPr lang="en-US" sz="1030" dirty="0"/>
          </a:p>
        </p:txBody>
      </p:sp>
      <p:sp>
        <p:nvSpPr>
          <p:cNvPr id="31" name="Text 26"/>
          <p:cNvSpPr/>
          <p:nvPr/>
        </p:nvSpPr>
        <p:spPr>
          <a:xfrm>
            <a:off x="548640" y="545896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mocking-only shortcuts: every layer from pure logic to real LLM calls is covered, just not shown here slide-by-slide.</a:t>
            </a:r>
            <a:endParaRPr lang="en-US" sz="980" dirty="0"/>
          </a:p>
        </p:txBody>
      </p:sp>
      <p:sp>
        <p:nvSpPr>
          <p:cNvPr id="32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669280" cy="5669280"/>
          </a:xfrm>
          <a:prstGeom prst="ellipse">
            <a:avLst/>
          </a:prstGeom>
          <a:solidFill>
            <a:srgbClr val="2B3A5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377440"/>
            <a:ext cx="4937760" cy="4937760"/>
          </a:xfrm>
          <a:prstGeom prst="ellipse">
            <a:avLst/>
          </a:prstGeom>
          <a:solidFill>
            <a:srgbClr val="2B3A5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support assistant that knows what it knows —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knows when to ask for help.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+ whitelisted SQL, routed deterministically through a checkpointed LangGraph state machine, reflected on for confidence, traced end-to-end, and evaluated against a real 50-query golden 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1883664" cy="1005840"/>
          </a:xfrm>
          <a:prstGeom prst="roundRect">
            <a:avLst>
              <a:gd name="adj" fmla="val 8182"/>
            </a:avLst>
          </a:prstGeom>
          <a:solidFill>
            <a:srgbClr val="2B3A5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947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31596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80944" y="3703320"/>
            <a:ext cx="1883664" cy="1005840"/>
          </a:xfrm>
          <a:prstGeom prst="roundRect">
            <a:avLst>
              <a:gd name="adj" fmla="val 8182"/>
            </a:avLst>
          </a:prstGeom>
          <a:solidFill>
            <a:srgbClr val="2B3A55"/>
          </a:solidFill>
          <a:ln/>
        </p:spPr>
      </p:sp>
      <p:sp>
        <p:nvSpPr>
          <p:cNvPr id="10" name="Text 8"/>
          <p:cNvSpPr/>
          <p:nvPr/>
        </p:nvSpPr>
        <p:spPr>
          <a:xfrm>
            <a:off x="2980944" y="37947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80944" y="431596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38928" y="3703320"/>
            <a:ext cx="1883664" cy="1005840"/>
          </a:xfrm>
          <a:prstGeom prst="roundRect">
            <a:avLst>
              <a:gd name="adj" fmla="val 8182"/>
            </a:avLst>
          </a:prstGeom>
          <a:solidFill>
            <a:srgbClr val="2B3A55"/>
          </a:solidFill>
          <a:ln/>
        </p:spPr>
      </p:sp>
      <p:sp>
        <p:nvSpPr>
          <p:cNvPr id="13" name="Text 11"/>
          <p:cNvSpPr/>
          <p:nvPr/>
        </p:nvSpPr>
        <p:spPr>
          <a:xfrm>
            <a:off x="5138928" y="37947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38928" y="431596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96912" y="3703320"/>
            <a:ext cx="1883664" cy="1005840"/>
          </a:xfrm>
          <a:prstGeom prst="roundRect">
            <a:avLst>
              <a:gd name="adj" fmla="val 8182"/>
            </a:avLst>
          </a:prstGeom>
          <a:solidFill>
            <a:srgbClr val="2B3A55"/>
          </a:solidFill>
          <a:ln/>
        </p:spPr>
      </p:sp>
      <p:sp>
        <p:nvSpPr>
          <p:cNvPr id="16" name="Text 14"/>
          <p:cNvSpPr/>
          <p:nvPr/>
        </p:nvSpPr>
        <p:spPr>
          <a:xfrm>
            <a:off x="7296912" y="37947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96912" y="431596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454896" y="3703320"/>
            <a:ext cx="1883664" cy="1005840"/>
          </a:xfrm>
          <a:prstGeom prst="roundRect">
            <a:avLst>
              <a:gd name="adj" fmla="val 8182"/>
            </a:avLst>
          </a:prstGeom>
          <a:solidFill>
            <a:srgbClr val="2B3A55"/>
          </a:solidFill>
          <a:ln/>
        </p:spPr>
      </p:sp>
      <p:sp>
        <p:nvSpPr>
          <p:cNvPr id="19" name="Text 17"/>
          <p:cNvSpPr/>
          <p:nvPr/>
        </p:nvSpPr>
        <p:spPr>
          <a:xfrm>
            <a:off x="9454896" y="37947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454896" y="431596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QUERIES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5212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2960" y="5760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Mutha  ·  Capstone: Build Autonomous Agentic AI Systems  ·  Domain: Enterprise 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&amp; Resolution Intelligence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2026-08-13T17:07:31Z</dcterms:created>
  <dcterms:modified xsi:type="dcterms:W3CDTF">2026-08-13T17:07:31Z</dcterms:modified>
</cp:coreProperties>
</file>