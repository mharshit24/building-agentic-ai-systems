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autoAdjust="0" sz="14995"/>
    <p:restoredTop sz="94660"/>
  </p:normalViewPr>
  <p:slideViewPr>
    <p:cSldViewPr snapToGrid="0" snapToObjects="1">
      <p:cViewPr varScale="1">
        <p:scale>
          <a:sx d="100" n="105"/>
          <a:sy d="100" n="105"/>
        </p:scale>
        <p:origin x="834" y="9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16" Target="slides/slide11.xml" Type="http://schemas.openxmlformats.org/officeDocument/2006/relationships/slide"/><Relationship Id="rId15" Target="slides/slide10.xml" Type="http://schemas.openxmlformats.org/officeDocument/2006/relationships/slide"/><Relationship Id="rId14" Target="slides/slide9.xml" Type="http://schemas.openxmlformats.org/officeDocument/2006/relationships/slide"/><Relationship Id="rId13" Target="slides/slide8.xml" Type="http://schemas.openxmlformats.org/officeDocument/2006/relationships/slide"/><Relationship Id="rId12" Target="slides/slide7.xml" Type="http://schemas.openxmlformats.org/officeDocument/2006/relationships/slide"/><Relationship Id="rId11" Target="slides/slide6.xml" Type="http://schemas.openxmlformats.org/officeDocument/2006/relationships/slide"/><Relationship Id="rId10" Target="slides/slide5.xml" Type="http://schemas.openxmlformats.org/officeDocument/2006/relationships/slide"/><Relationship Id="rId9" Target="slides/slide4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2" Target="../media/image1.png" Type="http://schemas.openxmlformats.org/officeDocument/2006/relationships/image"/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269748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5" name="Right Triangle 4"/>
          <p:cNvSpPr/>
          <p:nvPr/>
        </p:nvSpPr>
        <p:spPr>
          <a:xfrm>
            <a:off x="9509760" y="0"/>
            <a:ext cx="2743200" cy="4206240"/>
          </a:xfrm>
          <a:prstGeom prst="rtTriangl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64040" y="0"/>
            <a:ext cx="54864" cy="4206240"/>
          </a:xfrm>
          <a:prstGeom prst="rect">
            <a:avLst/>
          </a:prstGeom>
          <a:solidFill>
            <a:srgbClr val="271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502920"/>
            <a:ext cx="640080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C9C3F7"/>
                </a:solidFill>
                <a:latin typeface="Segoe UI Semibold"/>
              </a:rPr>
              <a:t>NIIT · AGENTIC AI · BUILD AUTONOMOUS MULTI-AGENT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8412480" cy="17373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 sz="4600">
                <a:solidFill>
                  <a:srgbClr val="FFFFFF"/>
                </a:solidFill>
                <a:latin typeface="Segoe UI Semibold"/>
              </a:rPr>
              <a:t>Autonomous Event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b="1" i="0" sz="4600">
                <a:solidFill>
                  <a:srgbClr val="FFFFFF"/>
                </a:solidFill>
                <a:latin typeface="Segoe UI Semibold"/>
              </a:rPr>
              <a:t>Planning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8686800" cy="5486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700">
                <a:solidFill>
                  <a:srgbClr val="E3DFFB"/>
                </a:solidFill>
                <a:latin typeface="Segoe UI"/>
              </a:rPr>
              <a:t>A LangGraph multi-agent system that turns an event brief into a complete, quality-scored event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617720"/>
            <a:ext cx="3063240" cy="457200"/>
          </a:xfrm>
          <a:prstGeom prst="roundRect">
            <a:avLst>
              <a:gd fmla="val 50000" name="adj"/>
            </a:avLst>
          </a:prstGeom>
          <a:solidFill>
            <a:srgbClr val="2A2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FFFFFF"/>
                </a:solidFill>
                <a:latin typeface="Segoe UI"/>
              </a:rPr>
              <a:t>FastAPI + LangGraph + Next.js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989320"/>
            <a:ext cx="5486400" cy="200055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dirty="0" i="0" sz="1300">
                <a:solidFill>
                  <a:srgbClr val="C9C3F7"/>
                </a:solidFill>
                <a:latin typeface="Segoe UI"/>
              </a:rPr>
              <a:t>Presented </a:t>
            </a:r>
            <a:r>
              <a:rPr b="0" i="0" sz="1300">
                <a:solidFill>
                  <a:srgbClr val="C9C3F7"/>
                </a:solidFill>
                <a:latin typeface="Segoe UI"/>
              </a:rPr>
              <a:t>by</a:t>
            </a:r>
            <a:r>
              <a:rPr b="0" i="0" lang="en-US" sz="1300">
                <a:solidFill>
                  <a:srgbClr val="C9C3F7"/>
                </a:solidFill>
                <a:latin typeface="Segoe UI"/>
              </a:rPr>
              <a:t> Harshit Mutha </a:t>
            </a:r>
            <a:r>
              <a:rPr b="0" dirty="0" i="0" lang="en-US" sz="1300">
                <a:solidFill>
                  <a:srgbClr val="C9C3F7"/>
                </a:solidFill>
                <a:latin typeface="Segoe UI"/>
              </a:rPr>
              <a:t>&amp;</a:t>
            </a:r>
            <a:r>
              <a:rPr b="0" dirty="0" i="0" sz="1300">
                <a:solidFill>
                  <a:srgbClr val="C9C3F7"/>
                </a:solidFill>
                <a:latin typeface="Segoe UI"/>
              </a:rPr>
              <a:t> Arockia Dhanaraj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309360"/>
            <a:ext cx="548640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100">
                <a:solidFill>
                  <a:srgbClr val="9F97E0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What We'll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27632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84248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Purpose, features, tech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17320" y="2322576"/>
            <a:ext cx="9875520" cy="9525"/>
          </a:xfrm>
          <a:prstGeom prst="rect">
            <a:avLst/>
          </a:prstGeom>
          <a:solidFill>
            <a:srgbClr val="DC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" y="2359152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86584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43200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Orchestrator-worker graph &amp; agent roster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17320" y="3081528"/>
            <a:ext cx="9875520" cy="9525"/>
          </a:xfrm>
          <a:prstGeom prst="rect">
            <a:avLst/>
          </a:prstGeom>
          <a:solidFill>
            <a:srgbClr val="DC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0080" y="3118104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145536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REST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502152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Endpoints, request/response envelope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3840480"/>
            <a:ext cx="9875520" cy="9525"/>
          </a:xfrm>
          <a:prstGeom prst="rect">
            <a:avLst/>
          </a:prstGeom>
          <a:solidFill>
            <a:srgbClr val="DC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0080" y="3877056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904488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Sample Input &amp;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61104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A real request through the pipeline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" y="4599432"/>
            <a:ext cx="9875520" cy="9525"/>
          </a:xfrm>
          <a:prstGeom prst="rect">
            <a:avLst/>
          </a:prstGeom>
          <a:solidFill>
            <a:srgbClr val="DC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4636008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663440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Tests &amp; 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020056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Suite structure, offline mocking strategy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5358384"/>
            <a:ext cx="9875520" cy="9525"/>
          </a:xfrm>
          <a:prstGeom prst="rect">
            <a:avLst/>
          </a:prstGeom>
          <a:solidFill>
            <a:srgbClr val="DC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080" y="5394960"/>
            <a:ext cx="566928" cy="566928"/>
          </a:xfrm>
          <a:prstGeom prst="roundRect">
            <a:avLst>
              <a:gd fmla="val 30000" name="adj"/>
            </a:avLst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FFFFFF"/>
                </a:solidFill>
                <a:latin typeface="Segoe U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422392"/>
            <a:ext cx="39319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700">
                <a:solidFill>
                  <a:srgbClr val="1E2533"/>
                </a:solidFill>
                <a:latin typeface="Segoe UI Semibold"/>
              </a:rPr>
              <a:t>Key Takeaways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779008"/>
            <a:ext cx="89611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475569"/>
                </a:solidFill>
                <a:latin typeface="Segoe UI"/>
              </a:rPr>
              <a:t>Design principles worth remembering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From Free-Text Brief to a Validated Event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486400" cy="1417320"/>
          </a:xfrm>
          <a:prstGeom prst="roundRect">
            <a:avLst>
              <a:gd fmla="val 6000" name="adj"/>
            </a:avLst>
          </a:prstGeom>
          <a:solidFill>
            <a:srgbClr val="F1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3B2FD9"/>
                </a:solidFill>
                <a:latin typeface="Segoe UI Semibold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5074920" cy="9144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300">
                <a:solidFill>
                  <a:srgbClr val="1E2533"/>
                </a:solidFill>
                <a:latin typeface="Segoe UI"/>
              </a:rPr>
              <a:t>A manager agent decomposes an event brief; five specialists (logistics, budget, marketing, schedule, risk) plan in parallel; a reflection agent critiques and iterates until the plan clears a quality 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513832" cy="1417320"/>
          </a:xfrm>
          <a:prstGeom prst="roundRect">
            <a:avLst>
              <a:gd fmla="val 6000" name="adj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0292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00">
                <a:solidFill>
                  <a:srgbClr val="0E7A6E"/>
                </a:solidFill>
                <a:latin typeface="Segoe UI Semibold"/>
              </a:rPr>
              <a:t>WHY IT'S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5074920" cy="9144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300">
                <a:solidFill>
                  <a:srgbClr val="1E2533"/>
                </a:solidFill>
                <a:latin typeface="Segoe UI"/>
              </a:rPr>
              <a:t>Every specialist grounds its numbers in a deterministic tool (venue catalog, pricing model, calendar logic) and asks the LLM only for the bounded, qualitative remainder — with a safe fallback if the LLM fails.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1E2533"/>
                </a:solidFill>
                <a:latin typeface="Segoe UI Semibold"/>
              </a:rPr>
              <a:t>TECH STACK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483864"/>
            <a:ext cx="100584" cy="100584"/>
          </a:xfrm>
          <a:prstGeom prst="ellipse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1874519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3429000"/>
            <a:ext cx="89611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1E2533"/>
                </a:solidFill>
                <a:latin typeface="Segoe UI"/>
              </a:rPr>
              <a:t>FastAPI • LangGraph state-machine orchestration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059936"/>
            <a:ext cx="100584" cy="100584"/>
          </a:xfrm>
          <a:prstGeom prst="ellipse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4005072"/>
            <a:ext cx="1874519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LLM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005072"/>
            <a:ext cx="89611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1E2533"/>
                </a:solidFill>
                <a:latin typeface="Segoe UI"/>
              </a:rPr>
              <a:t>LiteLLM router — Azure OpenAI → Anthropic → Gemini (reasoning tier), local Ollama (helper tier)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636008"/>
            <a:ext cx="100584" cy="100584"/>
          </a:xfrm>
          <a:prstGeom prst="ellipse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581144"/>
            <a:ext cx="1874519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581144"/>
            <a:ext cx="89611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1E2533"/>
                </a:solidFill>
                <a:latin typeface="Segoe UI"/>
              </a:rPr>
              <a:t>Next.js / React (TypeScript) + Tailwind CSS + Framer Motion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5212080"/>
            <a:ext cx="100584" cy="100584"/>
          </a:xfrm>
          <a:prstGeom prst="ellipse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57216"/>
            <a:ext cx="1874519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97480" y="5157216"/>
            <a:ext cx="89611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1E2533"/>
                </a:solidFill>
                <a:latin typeface="Segoe UI"/>
              </a:rPr>
              <a:t>LangGraph MemorySaver checkpointer (live state) + SQLite-backed plan store (finalized plans)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788152"/>
            <a:ext cx="100584" cy="100584"/>
          </a:xfrm>
          <a:prstGeom prst="ellipse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5733288"/>
            <a:ext cx="1874519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Security &amp;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5733288"/>
            <a:ext cx="896112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50">
                <a:solidFill>
                  <a:srgbClr val="1E2533"/>
                </a:solidFill>
                <a:latin typeface="Segoe UI"/>
              </a:rPr>
              <a:t>Presidio (PII scrub) • Guardrails (output validation) • Langfuse (tracing) — all optional, fail-open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Orchestrator-Worker Graph (LangGraph)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4</a:t>
            </a:r>
          </a:p>
        </p:txBody>
      </p:sp>
      <p:pic>
        <p:nvPicPr>
          <p:cNvPr descr="architecture_final.png" id="47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6937"/>
            <a:ext cx="11186160" cy="3620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Agent Roster — Roles &amp;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74551" cy="4535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Segoe UI Semibold"/>
                        </a:rPr>
                        <a:t>Agent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Segoe UI Semibold"/>
                        </a:rPr>
                        <a:t>Role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350">
                          <a:solidFill>
                            <a:srgbClr val="FFFFFF"/>
                          </a:solidFill>
                          <a:latin typeface="Segoe UI Semibold"/>
                        </a:rPr>
                        <a:t>Responsibility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Manager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Coordinator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Decomposes the brief into per-specialist work; synthesizes the 5 outputs + an LLM summary into one EventBlueprint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Logistics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Specialist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Picks a venue from a capacity-matched catalog; LLM fills catering / vendors / equipment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Budget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Specialist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Computes a cost baseline from a per-head pricing model; LLM adds a bounded 0–50% contingency buffer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Marketing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Specialist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Computes an outreach start date from the event date; LLM proposes channels + content calendar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Schedule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Specialist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Builds a standard milestone timeline, flags calendar conflicts; LLM adds up to 3 event-specific milestones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Specialist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Fully LLM-driven risk register (no deterministic source of truth); sensible default list as fallback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Reflection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Quality gate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00">
                          <a:solidFill>
                            <a:srgbClr val="1E2533"/>
                          </a:solidFill>
                          <a:latin typeface="Segoe UI"/>
                        </a:rPr>
                        <a:t>Scores the draft on 4 weighted dimensions; re-queues failing dimensions for another iteration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989320"/>
            <a:ext cx="11247120" cy="457200"/>
          </a:xfrm>
          <a:prstGeom prst="roundRect">
            <a:avLst>
              <a:gd fmla="val 15000" name="adj"/>
            </a:avLst>
          </a:prstGeom>
          <a:solidFill>
            <a:srgbClr val="F1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"/>
              </a:rPr>
              <a:t>Quality bar: feasibility 0.35 · budget fit 0.25 · risk coverage 0.20 · coherence 0.20 — weighted score must reach ≥ 0.80 to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Endpoints (app/api/routers/)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74552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Segoe UI Semibold"/>
                        </a:rPr>
                        <a:t>Method &amp; Path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400">
                          <a:solidFill>
                            <a:srgbClr val="FFFFFF"/>
                          </a:solidFill>
                          <a:latin typeface="Segoe UI Semibold"/>
                        </a:rPr>
                        <a:t>Purpose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GET /health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Liveness check + which LLM providers are configured on this deployment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POST /plans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Create a plan from an EventBrief body; runs the graph as a background task, returns immediately as in_progress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GET /plans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List all plans as lightweight summaries (event type, status, latest score)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GET /plans/{plan_id}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Poll a plan's live progress, or fetch its finalized blueprint + critique history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POST /plans/{plan_id}/refine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350">
                          <a:solidFill>
                            <a:srgbClr val="1E2533"/>
                          </a:solidFill>
                          <a:latin typeface="Segoe UI"/>
                        </a:rPr>
                        <a:t>Re-run the graph with an added free-text instruction and an optional list of target_agents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526280"/>
            <a:ext cx="54864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E7A6E"/>
                </a:solidFill>
                <a:latin typeface="Segoe UI Semibold"/>
              </a:rPr>
              <a:t>UNIFORM RESPONSE ENVELOPE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5532120" cy="1371600"/>
          </a:xfrm>
          <a:prstGeom prst="roundRect">
            <a:avLst>
              <a:gd fmla="val 4000" name="adj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28016" lIns="201168" numCol="1" rIns="164592" rtlCol="0" tIns="128016" wrap="square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E3E6F0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8FD68A"/>
                </a:solidFill>
                <a:latin typeface="Consolas"/>
              </a:rPr>
              <a:t>  "success": bool,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E3E6F0"/>
                </a:solidFill>
                <a:latin typeface="Consolas"/>
              </a:rPr>
              <a:t>  "data": &lt;...&gt; | null,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E9B86A"/>
                </a:solidFill>
                <a:latin typeface="Consolas"/>
              </a:rPr>
              <a:t>  "error": {"code", "message"} | null,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E3E6F0"/>
                </a:solidFill>
                <a:latin typeface="Consolas"/>
              </a:rPr>
              <a:t>  "request_id": str</a:t>
            </a:r>
          </a:p>
          <a:p>
            <a:pPr>
              <a:lnSpc>
                <a:spcPct val="112000"/>
              </a:lnSpc>
            </a:pPr>
            <a:r>
              <a:rPr sz="1300">
                <a:solidFill>
                  <a:srgbClr val="E3E6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526280"/>
            <a:ext cx="54864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E7A6E"/>
                </a:solidFill>
                <a:latin typeface="Segoe UI Semibold"/>
              </a:rPr>
              <a:t>DOMAIN ERROR MAPPING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09360" y="4846320"/>
          <a:ext cx="5440680" cy="16550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 numCol="1"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 Semibold"/>
                        </a:rPr>
                        <a:t>Code</a:t>
                      </a:r>
                    </a:p>
                  </a:txBody>
                  <a:tcPr anchor="ctr" marB="36576" marT="36576">
                    <a:solidFill>
                      <a:srgbClr val="0E7A6E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 Semibold"/>
                        </a:rPr>
                        <a:t>HTTP</a:t>
                      </a:r>
                    </a:p>
                  </a:txBody>
                  <a:tcPr anchor="ctr" marB="36576" marT="36576">
                    <a:solidFill>
                      <a:srgbClr val="0E7A6E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Segoe UI Semibold"/>
                        </a:rPr>
                        <a:t>Meaning</a:t>
                      </a:r>
                    </a:p>
                  </a:txBody>
                  <a:tcPr anchor="ctr" marB="36576" marT="36576">
                    <a:solidFill>
                      <a:srgbClr val="0E7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NOT_FOUND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404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Unknown plan_id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VALIDATION_ERROR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422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Malformed EventBrief / request body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UPSTREAM_ERROR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502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00">
                          <a:solidFill>
                            <a:srgbClr val="1E2533"/>
                          </a:solidFill>
                          <a:latin typeface="Segoe UI"/>
                        </a:rPr>
                        <a:t>Provider / graph execution failure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SAMPLE INPUT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Request — POST /plans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EXAMPLE: CORPORATE OFFSITE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6903720" cy="4480560"/>
          </a:xfrm>
          <a:prstGeom prst="roundRect">
            <a:avLst>
              <a:gd fmla="val 4000" name="adj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28016" lIns="201168" numCol="1" rIns="164592" rtlCol="0" tIns="128016" wrap="square"/>
          <a:lstStyle/>
          <a:p>
            <a:pPr algn="ctr"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"event_type": "corporate offsite",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"objective": "Team-building retreat for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             engineering department",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9B86A"/>
                </a:solidFill>
                <a:latin typeface="Consolas"/>
              </a:rPr>
              <a:t>  "audience_size": 30,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"budget": {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9B86A"/>
                </a:solidFill>
                <a:latin typeface="Consolas"/>
              </a:rPr>
              <a:t>    "currency": "USD", "max_amount": 50000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"timeline": {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8FD68A"/>
                </a:solidFill>
                <a:latin typeface="Consolas"/>
              </a:rPr>
              <a:t>    "preferred_date": "2026-10-01",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8FD68A"/>
                </a:solidFill>
                <a:latin typeface="Consolas"/>
              </a:rPr>
              <a:t>    "duration_days": 2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"venue_preference": "lakeside resort",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"constraints": [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  "outdoor activities", "catered meals"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  ]</a:t>
            </a:r>
          </a:p>
          <a:p>
            <a:pPr>
              <a:lnSpc>
                <a:spcPct val="112000"/>
              </a:lnSpc>
            </a:pPr>
            <a:r>
              <a:rPr sz="1350">
                <a:solidFill>
                  <a:srgbClr val="E3E6F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114800" cy="4480560"/>
          </a:xfrm>
          <a:prstGeom prst="roundRect">
            <a:avLst>
              <a:gd fmla="val 6000" name="adj"/>
            </a:avLst>
          </a:prstGeom>
          <a:solidFill>
            <a:srgbClr val="F1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657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271F9E"/>
                </a:solidFill>
                <a:latin typeface="Segoe UI Semibold"/>
              </a:rPr>
              <a:t>WHAT THE GRAPH DOES WITH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657600" cy="3749039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PII scrub (Presidio) before it touches the graph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intake → decompose fans out to all 5 specialists in parallel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Logistics matches a lakeside/resort venue ≥ 30 capacity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Budget builds a per-head cost baseline against the $50,000 cap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Marketing / Schedule / Risk run independently, grounded in tools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synthesize merges all 5 outputs into one EventBlueprint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reflect scores it; loop back to decompose if below 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SAMPLE INPUT &amp;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Response — GET /plans/{plan_id}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0E7A6E"/>
                </a:solidFill>
                <a:latin typeface="Segoe UI Semibold"/>
              </a:rPr>
              <a:t>ACTUAL RESULT FOR THE OFFSITE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6903720" cy="4480560"/>
          </a:xfrm>
          <a:prstGeom prst="roundRect">
            <a:avLst>
              <a:gd fmla="val 4000" name="adj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28016" lIns="201168" numCol="1" rIns="164592" rtlCol="0" tIns="128016" wrap="square"/>
          <a:lstStyle/>
          <a:p>
            <a:pPr algn="ctr"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{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8FD68A"/>
                </a:solidFill>
                <a:latin typeface="Consolas"/>
              </a:rPr>
              <a:t>  "success": true,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"data": {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9B86A"/>
                </a:solidFill>
                <a:latin typeface="Consolas"/>
              </a:rPr>
              <a:t>    "status": "needs_review",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"iteration_count": 3,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"quality_gate_threshold": 0.80,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"critique_history": [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{"iteration": 1, "score": 0.68},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{"iteration": 2, "score": 0.60},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8FD68A"/>
                </a:solidFill>
                <a:latin typeface="Consolas"/>
              </a:rPr>
              <a:t>      {"iteration": 3, "score": 0.73}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],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"blueprint": {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"overview": {...}, "logistics": {...},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"budget": {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8FD68A"/>
                </a:solidFill>
                <a:latin typeface="Consolas"/>
              </a:rPr>
              <a:t>        "total_estimated_cost": 26950,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8FD68A"/>
                </a:solidFill>
                <a:latin typeface="Consolas"/>
              </a:rPr>
              <a:t>        "within_budget": true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"marketing": {...}, "schedule": {...},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  "risks": {...}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},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  "request_id": "..."</a:t>
            </a:r>
          </a:p>
          <a:p>
            <a:pPr>
              <a:lnSpc>
                <a:spcPct val="112000"/>
              </a:lnSpc>
            </a:pPr>
            <a:r>
              <a:rPr sz="1250">
                <a:solidFill>
                  <a:srgbClr val="E3E6F0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691640"/>
            <a:ext cx="4114800" cy="4480560"/>
          </a:xfrm>
          <a:prstGeom prst="roundRect">
            <a:avLst>
              <a:gd fmla="val 6000" name="adj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874519"/>
            <a:ext cx="3657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E7A6E"/>
                </a:solidFill>
                <a:latin typeface="Segoe UI Semibold"/>
              </a:rPr>
              <a:t>HOW TO READ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3657600" cy="3749039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Score climbed across 3 iterations (0.68 → 0.60 → 0.73) but never reached the 0.80 pass line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status = needs_review — the plan is still returned, flagged for human review, not silently dropped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Estimated cost $26,950 vs. requested cap $50,000 → within budget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Every response — success or error — uses the same envelope, so clients branch on success once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b="1" sz="1300">
                <a:solidFill>
                  <a:srgbClr val="1E2533"/>
                </a:solidFill>
                <a:latin typeface="Segoe UI"/>
              </a:rPr>
              <a:t>▪ A client can now call POST /plans/{id}/refine with a targeted instruction to push the score higher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TESTS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Testing Strategy — Fully Offline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1247120" cy="1051560"/>
          </a:xfrm>
          <a:prstGeom prst="roundRect">
            <a:avLst>
              <a:gd fmla="val 6000" name="adj"/>
            </a:avLst>
          </a:prstGeom>
          <a:solidFill>
            <a:srgbClr val="F1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1078992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271F9E"/>
                </a:solidFill>
                <a:latin typeface="Segoe UI Semibold"/>
              </a:rPr>
              <a:t>mock_llm_complete fixture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10789920" cy="5486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300">
                <a:solidFill>
                  <a:srgbClr val="1E2533"/>
                </a:solidFill>
                <a:latin typeface="Segoe UI"/>
              </a:rPr>
              <a:t>Swaps out app.llm.client at the module level, so no test ever needs live network or LLM access — the entire pytest suite runs offline and deterministically.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2724912" cy="21031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w="12700">
            <a:solidFill>
              <a:srgbClr val="DC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2724912" cy="73152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2898648"/>
            <a:ext cx="2395728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50">
                <a:solidFill>
                  <a:srgbClr val="3B2FD9"/>
                </a:solidFill>
                <a:latin typeface="Segoe UI Semibold"/>
              </a:rPr>
              <a:t>Specialist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383280"/>
            <a:ext cx="2395728" cy="13258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150">
                <a:solidFill>
                  <a:srgbClr val="1E2533"/>
                </a:solidFill>
                <a:latin typeface="Segoe UI"/>
              </a:rPr>
              <a:t>Happy path + deterministic fallback for each of the 5 specialists, plus their underlying tools (venue matching, cost estimation, conflict detection)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697480"/>
            <a:ext cx="2724912" cy="21031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w="12700">
            <a:solidFill>
              <a:srgbClr val="DC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64992" y="2697480"/>
            <a:ext cx="2724912" cy="73152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2898648"/>
            <a:ext cx="2395728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50">
                <a:solidFill>
                  <a:srgbClr val="0E7A6E"/>
                </a:solidFill>
                <a:latin typeface="Segoe UI Semibold"/>
              </a:rPr>
              <a:t>Manager &amp; Reflection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3383280"/>
            <a:ext cx="2395728" cy="13258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150">
                <a:solidFill>
                  <a:srgbClr val="1E2533"/>
                </a:solidFill>
                <a:latin typeface="Segoe UI"/>
              </a:rPr>
              <a:t>Decompose / synthesize logic, and critique-note generation from the reflection agent's scoring rubric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7064" y="2697480"/>
            <a:ext cx="2724912" cy="21031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w="12700">
            <a:solidFill>
              <a:srgbClr val="DC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27064" y="2697480"/>
            <a:ext cx="2724912" cy="73152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6" y="2898648"/>
            <a:ext cx="2395728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50">
                <a:solidFill>
                  <a:srgbClr val="3B2FD9"/>
                </a:solidFill>
                <a:latin typeface="Segoe UI Semibold"/>
              </a:rPr>
              <a:t>Orchestrator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3383280"/>
            <a:ext cx="2395728" cy="13258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150">
                <a:solidFill>
                  <a:srgbClr val="1E2533"/>
                </a:solidFill>
                <a:latin typeface="Segoe UI"/>
              </a:rPr>
              <a:t>Graph compiles correctly; quality-gate edge routes pass / fail / iteration-limit correctly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2697480"/>
            <a:ext cx="2724912" cy="210312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w="12700">
            <a:solidFill>
              <a:srgbClr val="DCD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089136" y="2697480"/>
            <a:ext cx="2724912" cy="73152"/>
          </a:xfrm>
          <a:prstGeom prst="rect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2898648"/>
            <a:ext cx="2395728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450">
                <a:solidFill>
                  <a:srgbClr val="0E7A6E"/>
                </a:solidFill>
                <a:latin typeface="Segoe UI Semibold"/>
              </a:rPr>
              <a:t>API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3383280"/>
            <a:ext cx="2395728" cy="13258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b="0" i="0" sz="1150">
                <a:solidFill>
                  <a:srgbClr val="1E2533"/>
                </a:solidFill>
                <a:latin typeface="Segoe UI"/>
              </a:rPr>
              <a:t>Health check, plus the full plan create → get → refine lifecycle against a FakeOrchestrator (no real graph or LLM)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82296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3B2FD9"/>
                </a:solidFill>
                <a:latin typeface="Segoe UI Semibold"/>
              </a:rPr>
              <a:t>TESTS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2800">
                <a:solidFill>
                  <a:srgbClr val="1E2533"/>
                </a:solidFill>
                <a:latin typeface="Segoe UI Semibold"/>
              </a:rPr>
              <a:t>Suite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914400" cy="38100"/>
          </a:xfrm>
          <a:prstGeom prst="rect">
            <a:avLst/>
          </a:prstGeom>
          <a:solidFill>
            <a:srgbClr val="3B2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247120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 Semibold"/>
                        </a:rPr>
                        <a:t>Test File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 Semibold"/>
                        </a:rPr>
                        <a:t>Focus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Segoe UI Semibold"/>
                        </a:rPr>
                        <a:t>Tests</a:t>
                      </a:r>
                    </a:p>
                  </a:txBody>
                  <a:tcPr anchor="ctr" marB="36576" marT="36576">
                    <a:solidFill>
                      <a:srgbClr val="3B2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test_specialist_agents.py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All 5 specialists — happy path, LLM fallback, deterministic tool logic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test_plans_endpoint.py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POST/GET/refine lifecycle, 404 handling, background-task failure capture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test_edges.py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Quality-gate routing: pass, fail-under-limit, fail-at-limit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test_manager_agent.py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decompose() and synthesize() logic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test_reflection_agent.py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Critique-note generation from the scoring rubric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test_health_endpoint.py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/health response shape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B="27432" marT="27432">
                    <a:solidFill>
                      <a:srgbClr val="F1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test_graph_builder.py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Graph compiles with correct nodes/edges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tc>
                  <a:txBody>
                    <a:bodyPr numCol="1"/>
                    <a:lstStyle/>
                    <a:p>
                      <a:pPr algn="l"/>
                      <a:r>
                        <a:rPr b="0" sz="1250">
                          <a:solidFill>
                            <a:srgbClr val="1E2533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anchor="ctr" marB="27432" marT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5257800"/>
            <a:ext cx="5486400" cy="1051560"/>
          </a:xfrm>
          <a:prstGeom prst="roundRect">
            <a:avLst>
              <a:gd fmla="val 6000" name="adj"/>
            </a:avLst>
          </a:prstGeom>
          <a:solidFill>
            <a:srgbClr val="F1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36576" lIns="73152" numCol="1" rIns="73152" rtlCol="0" tIns="36576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b="1" i="0" sz="2200">
                <a:solidFill>
                  <a:srgbClr val="271F9E"/>
                </a:solidFill>
                <a:latin typeface="Segoe UI"/>
              </a:rPr>
              <a:t>39 test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97880"/>
            <a:ext cx="502920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475569"/>
                </a:solidFill>
                <a:latin typeface="Segoe UI"/>
              </a:rPr>
              <a:t>across 7 files — 100% offline, zero live LLM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5257800"/>
            <a:ext cx="5486400" cy="1051560"/>
          </a:xfrm>
          <a:prstGeom prst="roundRect">
            <a:avLst>
              <a:gd fmla="val 6000" name="adj"/>
            </a:avLst>
          </a:prstGeom>
          <a:solidFill>
            <a:srgbClr val="EC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5468112"/>
            <a:ext cx="50292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250">
                <a:solidFill>
                  <a:srgbClr val="0E7A6E"/>
                </a:solidFill>
                <a:latin typeface="Segoe UI"/>
              </a:rPr>
              <a:t>Run it yourself: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742432"/>
            <a:ext cx="4937760" cy="502920"/>
          </a:xfrm>
          <a:prstGeom prst="roundRect">
            <a:avLst>
              <a:gd fmla="val 4000" name="adj"/>
            </a:avLst>
          </a:prstGeom>
          <a:solidFill>
            <a:srgbClr val="1B1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bIns="128016" lIns="201168" numCol="1" rIns="164592" rtlCol="0" tIns="128016" wrap="square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8FD68A"/>
                </a:solidFill>
                <a:latin typeface="Consolas"/>
              </a:rPr>
              <a:t>$ pytest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54864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Autonomous Event Planning Team — Project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b="0" i="0" sz="900">
                <a:solidFill>
                  <a:srgbClr val="4755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822960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300">
                <a:solidFill>
                  <a:srgbClr val="C9C3F7"/>
                </a:solidFill>
                <a:latin typeface="Segoe UI Semibold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22960"/>
            <a:ext cx="9601200" cy="64008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320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46504"/>
            <a:ext cx="128016" cy="128016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691640"/>
            <a:ext cx="1024128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650">
                <a:solidFill>
                  <a:srgbClr val="FFFFFF"/>
                </a:solidFill>
                <a:latin typeface="Segoe UI Semibold"/>
              </a:rPr>
              <a:t>Orchestrator-worker at its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10241280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0" i="0" sz="1300">
                <a:solidFill>
                  <a:srgbClr val="E3DFFB"/>
                </a:solidFill>
                <a:latin typeface="Segoe UI"/>
              </a:rPr>
              <a:t>One manager, five stateless parallel specialists, durable checkpointed state after every node.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660904"/>
            <a:ext cx="128016" cy="128016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606040"/>
            <a:ext cx="1024128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650">
                <a:solidFill>
                  <a:srgbClr val="FFFFFF"/>
                </a:solidFill>
                <a:latin typeface="Segoe UI Semibold"/>
              </a:rPr>
              <a:t>Grounded-then-generative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241280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0" i="0" sz="1300">
                <a:solidFill>
                  <a:srgbClr val="E3DFFB"/>
                </a:solidFill>
                <a:latin typeface="Segoe UI"/>
              </a:rPr>
              <a:t>Deterministic tools anchor every number (venue, cost, dates); the LLM only fills the bounded, qualitative gaps — with a safe fallback if it fails.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575304"/>
            <a:ext cx="128016" cy="128016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1024128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650">
                <a:solidFill>
                  <a:srgbClr val="FFFFFF"/>
                </a:solidFill>
                <a:latin typeface="Segoe UI Semibold"/>
              </a:rPr>
              <a:t>A real 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86200"/>
            <a:ext cx="10241280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0" i="0" sz="1300">
                <a:solidFill>
                  <a:srgbClr val="E3DFFB"/>
                </a:solidFill>
                <a:latin typeface="Segoe UI"/>
              </a:rPr>
              <a:t>The reflection agent enforces a weighted 0.80 score bar before a plan is treated as done, looping up to 3 times otherwise.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489704"/>
            <a:ext cx="128016" cy="128016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434840"/>
            <a:ext cx="1024128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650">
                <a:solidFill>
                  <a:srgbClr val="FFFFFF"/>
                </a:solidFill>
                <a:latin typeface="Segoe UI Semibold"/>
              </a:rPr>
              <a:t>Security &amp; observability, fail-open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00600"/>
            <a:ext cx="10241280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0" i="0" sz="1300">
                <a:solidFill>
                  <a:srgbClr val="E3DFFB"/>
                </a:solidFill>
                <a:latin typeface="Segoe UI"/>
              </a:rPr>
              <a:t>PII scrubbing, output guardrails, and Langfuse tracing are all config-gated — a missing key never blocks a planning request.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404104"/>
            <a:ext cx="128016" cy="128016"/>
          </a:xfrm>
          <a:prstGeom prst="ellipse">
            <a:avLst/>
          </a:prstGeom>
          <a:solidFill>
            <a:srgbClr val="0E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5349240"/>
            <a:ext cx="10241280" cy="36576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sz="1650">
                <a:solidFill>
                  <a:srgbClr val="FFFFFF"/>
                </a:solidFill>
                <a:latin typeface="Segoe UI Semibold"/>
              </a:rPr>
              <a:t>Fully testable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10241280" cy="45720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b="0" i="0" sz="1300">
                <a:solidFill>
                  <a:srgbClr val="E3DFFB"/>
                </a:solidFill>
                <a:latin typeface="Segoe UI"/>
              </a:rPr>
              <a:t>39 pytest functions across 7 files exercise every agent, the graph wiring, and the full API lifecycle with zero live LLM calls.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46520"/>
            <a:ext cx="9144000" cy="320040"/>
          </a:xfrm>
          <a:prstGeom prst="rect">
            <a:avLst/>
          </a:prstGeom>
          <a:noFill/>
        </p:spPr>
        <p:txBody>
          <a:bodyPr bIns="0" lIns="0" numCol="1" rIns="0" tIns="0"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0" i="0" sz="1200">
                <a:solidFill>
                  <a:srgbClr val="9F97E0"/>
                </a:solidFill>
                <a:latin typeface="Segoe UI"/>
              </a:rPr>
              <a:t>Autonomous Event Planning Team —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numCol="1"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Manager/>
  <Company/>
  <Words>1619</Words>
  <Paragraphs>257</Paragraphs>
  <Slides>11</Slides>
  <Notes>0</Notes>
  <TotalTime>7</TotalTime>
  <HiddenSlides>0</HiddenSlides>
  <MMClips>0</MMClips>
  <ScaleCrop>false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17">
      <vt:lpstr>Arial</vt:lpstr>
      <vt:lpstr>Calibri</vt:lpstr>
      <vt:lpstr>Consolas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lication>Microsoft Office PowerPoint</Application>
  <AppVersion>16.0000</AppVers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dcterms:created xsi:type="dcterms:W3CDTF">2013-01-27T09:14:16Z</dcterms:created>
  <dc:creator>Administrator</dc:creator>
  <dc:description>generated using python-pptx</dc:description>
  <cp:keywords/>
  <cp:lastModifiedBy>Arockia Dhanaraj David</cp:lastModifiedBy>
  <dcterms:modified xsi:type="dcterms:W3CDTF">2026-07-08T04:08:45Z</dcterms:modified>
  <cp:revision>3</cp:revision>
  <dc:subject/>
  <dc:title/>
</cp:coreProperties>
</file>