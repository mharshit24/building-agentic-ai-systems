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00C2A8">
              <a:alpha val="12156"/>
            </a:srgbClr>
          </a:solidFill>
          <a:ln cap="flat" cmpd="sng" w="12700">
            <a:solidFill>
              <a:srgbClr val="00C2A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0" y="-365760"/>
            <a:ext cx="3474720" cy="3474720"/>
          </a:xfrm>
          <a:prstGeom prst="ellipse">
            <a:avLst/>
          </a:prstGeom>
          <a:solidFill>
            <a:srgbClr val="00C2A8">
              <a:alpha val="20000"/>
            </a:srgbClr>
          </a:solidFill>
          <a:ln cap="flat" cmpd="sng" w="12700">
            <a:solidFill>
              <a:srgbClr val="00C2A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217920" y="45720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{ }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914400"/>
            <a:ext cx="2194560" cy="292608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9144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AI PAIR PROGRAMMER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1480" y="141732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Mentor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480" y="260604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Intelligent real-time coding assistance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powered by Google Gemini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11480" y="3566160"/>
            <a:ext cx="2286000" cy="36576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114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Harshit Mutha  •  Nupur Sawant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11480" y="434340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11480" y="43434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828800" y="434340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828800" y="43434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Gemini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246120" y="434340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246120" y="43434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663440" y="434340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4663440" y="434340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Pydantic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challenges are developers facing?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74320" y="1115568"/>
            <a:ext cx="2834640" cy="146304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274320" y="1115568"/>
            <a:ext cx="54864" cy="146304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11480" y="12252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38912" y="1709928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Time-Consuming Debugging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38912" y="1984248"/>
            <a:ext cx="25786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Fixing bugs interrupts coding flow and drains hours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337560" y="1115568"/>
            <a:ext cx="2834640" cy="146304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337560" y="1115568"/>
            <a:ext cx="54864" cy="146304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474720" y="12252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502152" y="1709928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Unfamiliar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502152" y="1984248"/>
            <a:ext cx="25786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Understanding foreign codebases is slow and error-prone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74320" y="2834640"/>
            <a:ext cx="2834640" cy="146304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274320" y="2834640"/>
            <a:ext cx="54864" cy="146304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11480" y="29443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38912" y="3429000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Scattered 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38912" y="3703320"/>
            <a:ext cx="25786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Searching multiple sources breaks focus and momentum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337560" y="2834640"/>
            <a:ext cx="2834640" cy="146304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337560" y="2834640"/>
            <a:ext cx="54864" cy="146304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3474720" y="29443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502152" y="3429000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502152" y="3703320"/>
            <a:ext cx="25786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Applying clean code standards consistently is hard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400800" y="2834640"/>
            <a:ext cx="2834640" cy="146304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400800" y="2834640"/>
            <a:ext cx="54864" cy="146304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537960" y="29443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rgbClr val="00C2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565392" y="3429000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Real-Time Help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565392" y="3703320"/>
            <a:ext cx="25786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Traditional tools lack contextual, live guidance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00800" y="1115568"/>
            <a:ext cx="2834640" cy="146304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492240" y="1234440"/>
            <a:ext cx="2651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"Developers lose up to 50% of coding time searching for answers and debugging"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Code Mentor set out to achieve?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74320" y="1051560"/>
            <a:ext cx="8595360" cy="100584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11480" y="1097280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an AI-powered Pair Programmer that provides real-time, context-aware code assistance — tailored to the developer's experience level.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74320" y="2331720"/>
            <a:ext cx="1600200" cy="246888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274320" y="2331720"/>
            <a:ext cx="1600200" cy="4572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274320" y="2331720"/>
            <a:ext cx="1600200" cy="457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65760" y="28803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Explanations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65760" y="3566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Instantly simplify complex code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993392" y="2331720"/>
            <a:ext cx="1600200" cy="246888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1993392" y="2331720"/>
            <a:ext cx="1600200" cy="4572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993392" y="2331720"/>
            <a:ext cx="1600200" cy="457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084832" y="28803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084832" y="3566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Identify issues, inefficiencies &amp; smells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712464" y="2331720"/>
            <a:ext cx="1600200" cy="246888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712464" y="2331720"/>
            <a:ext cx="1600200" cy="4572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712464" y="23317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803904" y="28803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803904" y="3566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Suggest better, cleaner implementations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31536" y="2331720"/>
            <a:ext cx="1600200" cy="246888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431536" y="2331720"/>
            <a:ext cx="1600200" cy="4572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431536" y="2331720"/>
            <a:ext cx="1600200" cy="457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522976" y="28803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Practice Guidance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522976" y="3566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Enforce coding standards automatically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150608" y="2331720"/>
            <a:ext cx="1600200" cy="246888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150608" y="2331720"/>
            <a:ext cx="1600200" cy="4572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7150608" y="2331720"/>
            <a:ext cx="1600200" cy="457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242048" y="28803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Personalized Assistance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242048" y="3566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Adapt responses to beginner / expert level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can Code Mentor do?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74320" y="1078992"/>
            <a:ext cx="2743200" cy="17373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11480" y="1261872"/>
            <a:ext cx="54864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11480" y="12618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051560" y="12801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11480" y="1883664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Detects bugs, inefficiencies and bad practices with structured feedback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200400" y="1078992"/>
            <a:ext cx="2743200" cy="17373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337560" y="1261872"/>
            <a:ext cx="54864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337560" y="12618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977640" y="12801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Explanation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337560" y="1883664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Simplifies complex logic — tailored for Beginner / Intermediate / Expert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126480" y="1078992"/>
            <a:ext cx="2743200" cy="17373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263640" y="1261872"/>
            <a:ext cx="54864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263640" y="12618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903720" y="12801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Improvement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263640" y="1883664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Suggests optimized implementations with performance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74320" y="3017520"/>
            <a:ext cx="2743200" cy="17373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11480" y="3200400"/>
            <a:ext cx="54864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11480" y="3200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051560" y="32186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11480" y="3822192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Quality score, security risks, maintainability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337560" y="3200400"/>
            <a:ext cx="54864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3337560" y="3200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977640" y="32186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Streaming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337560" y="3822192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Real-time AI response via streaming API — no waiting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126480" y="3017520"/>
            <a:ext cx="2743200" cy="17373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263640" y="3200400"/>
            <a:ext cx="54864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263640" y="3200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903720" y="32186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263640" y="3822192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User ratings stored in PostgreSQL + JSON logs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 powering Code Mentor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56032" y="1115568"/>
            <a:ext cx="1993392" cy="1645920"/>
          </a:xfrm>
          <a:prstGeom prst="rect">
            <a:avLst/>
          </a:prstGeom>
          <a:solidFill>
            <a:srgbClr val="1B2B3B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56032" y="128016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47472" y="182880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47472" y="2157984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Backend API 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432304" y="1115568"/>
            <a:ext cx="1993392" cy="16459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2432304" y="128016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SRV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523744" y="182880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523744" y="2157984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ASGI Server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608576" y="1115568"/>
            <a:ext cx="1993392" cy="1645920"/>
          </a:xfrm>
          <a:prstGeom prst="rect">
            <a:avLst/>
          </a:prstGeom>
          <a:solidFill>
            <a:srgbClr val="1B2B3B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608576" y="128016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700016" y="182880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Gemini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700016" y="2157984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AI / LLM 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784848" y="1115568"/>
            <a:ext cx="1993392" cy="164592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784848" y="128016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876288" y="182880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Pydantic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876288" y="2157984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Data Validation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56032" y="2990088"/>
            <a:ext cx="1993392" cy="164592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56032" y="315468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47472" y="370332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47472" y="4032504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Primary Database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2432304" y="2990088"/>
            <a:ext cx="1993392" cy="164592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2432304" y="315468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RTE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523744" y="370332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SlowAPI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2523744" y="4032504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Rate Limiting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608576" y="2990088"/>
            <a:ext cx="1993392" cy="164592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608576" y="315468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TST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700016" y="370332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700016" y="4032504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Testing Framework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784848" y="2990088"/>
            <a:ext cx="1993392" cy="164592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784848" y="3154680"/>
            <a:ext cx="19933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CFG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876288" y="370332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python-dotenv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876288" y="4032504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Config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Modular, layered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0" y="1078992"/>
            <a:ext cx="9144000" cy="5943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37160" y="1078992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011680" y="1078992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mentor_routes.py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434840" y="1673352"/>
            <a:ext cx="54864" cy="155448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28600" y="1828800"/>
            <a:ext cx="8686800" cy="59436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65760" y="18288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240280" y="182880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code_analysis /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434840" y="2423160"/>
            <a:ext cx="54864" cy="155448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57200" y="2578608"/>
            <a:ext cx="822960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94360" y="2578608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468880" y="2578608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llm_service → Gemini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434840" y="3172968"/>
            <a:ext cx="54864" cy="155448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685800" y="3328416"/>
            <a:ext cx="7772400" cy="594360"/>
          </a:xfrm>
          <a:prstGeom prst="rect">
            <a:avLst/>
          </a:prstGeom>
          <a:solidFill>
            <a:srgbClr val="03626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822960" y="332841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697480" y="3328416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prompt_builder / detector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434840" y="3922776"/>
            <a:ext cx="54864" cy="155448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914400" y="4078224"/>
            <a:ext cx="7315200" cy="594360"/>
          </a:xfrm>
          <a:prstGeom prst="rect">
            <a:avLst/>
          </a:prstGeom>
          <a:solidFill>
            <a:srgbClr val="024B52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051560" y="4078224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2926080" y="407822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PostgreSQL via psycopg2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132320" y="1078992"/>
            <a:ext cx="1828800" cy="374904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7223760" y="117043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242048" y="1554480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› CodeRequest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242048" y="2039112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› FeedbackRequest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242048" y="2523744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› AnalyzeResponse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242048" y="3008376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› ExplainResponse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242048" y="3493008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› ImproveResponse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242048" y="3977640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› ReviewResponse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256032" y="1115568"/>
            <a:ext cx="1097280" cy="347472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484632" y="1188720"/>
            <a:ext cx="640080" cy="64008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84632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29184" y="1965960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Submits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29184" y="2834640"/>
            <a:ext cx="960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Via POST request with code, language &amp; experience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353312" y="2377440"/>
            <a:ext cx="137160" cy="36576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1490472" y="1115568"/>
            <a:ext cx="1097280" cy="347472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719072" y="1188720"/>
            <a:ext cx="640080" cy="64008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1719072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563624" y="1965960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Language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563624" y="2834640"/>
            <a:ext cx="960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Auto-detects Python, Java, JS, C++ from code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2587752" y="2377440"/>
            <a:ext cx="137160" cy="36576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2724912" y="1115568"/>
            <a:ext cx="1097280" cy="3474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2953512" y="1188720"/>
            <a:ext cx="640080" cy="64008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2953512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2798064" y="1965960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Construction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2798064" y="2834640"/>
            <a:ext cx="960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Dynamic prompt built per task &amp; experience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822192" y="2377440"/>
            <a:ext cx="137160" cy="36576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3959352" y="1115568"/>
            <a:ext cx="1097280" cy="3474720"/>
          </a:xfrm>
          <a:prstGeom prst="rect">
            <a:avLst/>
          </a:prstGeom>
          <a:solidFill>
            <a:srgbClr val="03626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4187952" y="1188720"/>
            <a:ext cx="640080" cy="64008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187952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032504" y="1965960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API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032504" y="2834640"/>
            <a:ext cx="960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Prompt sent to Google Gemini; response streamed or batched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056632" y="2377440"/>
            <a:ext cx="137160" cy="36576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5193792" y="1115568"/>
            <a:ext cx="1097280" cy="3474720"/>
          </a:xfrm>
          <a:prstGeom prst="rect">
            <a:avLst/>
          </a:prstGeom>
          <a:solidFill>
            <a:srgbClr val="024B52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5422392" y="1188720"/>
            <a:ext cx="640080" cy="64008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422392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266944" y="1965960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JSON Parsing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266944" y="2834640"/>
            <a:ext cx="960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AI response parsed into typed Pydantic response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291072" y="2377440"/>
            <a:ext cx="137160" cy="36576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428232" y="1115568"/>
            <a:ext cx="1097280" cy="3474720"/>
          </a:xfrm>
          <a:prstGeom prst="rect">
            <a:avLst/>
          </a:prstGeom>
          <a:solidFill>
            <a:srgbClr val="01384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656832" y="1188720"/>
            <a:ext cx="640080" cy="64008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6656832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501384" y="1965960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 Logging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501384" y="2834640"/>
            <a:ext cx="960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Code, language, task &amp; response saved to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7525512" y="2377440"/>
            <a:ext cx="137160" cy="36576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7662672" y="1115568"/>
            <a:ext cx="1097280" cy="347472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7891272" y="1188720"/>
            <a:ext cx="640080" cy="64008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7891272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7735824" y="1965960"/>
            <a:ext cx="960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 Returned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7735824" y="2834640"/>
            <a:ext cx="9601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Structured JSON returned to caller via FastAPI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API 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RESTful endpoints with rate limiting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274320" y="1078992"/>
            <a:ext cx="859536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347472" y="1188720"/>
            <a:ext cx="566928" cy="27432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347472" y="118872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005840" y="115214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/analyze-code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297680" y="11704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Bug detection + best practices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7818120" y="1188720"/>
            <a:ext cx="86868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7818120" y="118872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1/min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74320" y="1737360"/>
            <a:ext cx="8595360" cy="566928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347472" y="1847088"/>
            <a:ext cx="566928" cy="27432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347472" y="1847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005840" y="181051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/analyze-code/stream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297680" y="182880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Real-time streaming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818120" y="1847088"/>
            <a:ext cx="86868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7818120" y="18470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5/min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274320" y="2395728"/>
            <a:ext cx="859536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347472" y="2505456"/>
            <a:ext cx="566928" cy="27432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347472" y="2505456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005840" y="246888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/explain-code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297680" y="248716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Simplified code explanation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7818120" y="2505456"/>
            <a:ext cx="86868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7818120" y="250545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10/min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274320" y="3054096"/>
            <a:ext cx="8595360" cy="566928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47472" y="3163824"/>
            <a:ext cx="566928" cy="27432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347472" y="316382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005840" y="312724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/improve-code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297680" y="3145536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Optimization suggestions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7818120" y="3163824"/>
            <a:ext cx="86868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7818120" y="316382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10/min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274320" y="3712464"/>
            <a:ext cx="859536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347472" y="3822192"/>
            <a:ext cx="566928" cy="27432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347472" y="3822192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005840" y="3785616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/review-code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297680" y="380390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Full review with quality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7818120" y="3822192"/>
            <a:ext cx="86868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7818120" y="382219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10/min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274320" y="4370832"/>
            <a:ext cx="8595360" cy="566928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347472" y="4480560"/>
            <a:ext cx="566928" cy="27432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347472" y="448056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1005840" y="444398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/feedback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4297680" y="446227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Save user rating + comment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7818120" y="4480560"/>
            <a:ext cx="86868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7818120" y="448056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20/min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DATA MODELS &amp; VALIDATION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Pydantic models for request &amp; response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274320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REQUEST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274320" y="1325880"/>
            <a:ext cx="3931920" cy="21945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11480" y="141732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class CodeRequest(BaseModel):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11480" y="163677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4F2"/>
                </a:solidFill>
                <a:latin typeface="Consolas"/>
                <a:ea typeface="Consolas"/>
                <a:cs typeface="Consolas"/>
                <a:sym typeface="Consolas"/>
              </a:rPr>
              <a:t>  code: str  # min_length=1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11480" y="185623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4F2"/>
                </a:solidFill>
                <a:latin typeface="Consolas"/>
                <a:ea typeface="Consolas"/>
                <a:cs typeface="Consolas"/>
                <a:sym typeface="Consolas"/>
              </a:rPr>
              <a:t>  language: Optional[str]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11480" y="207568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4F2"/>
                </a:solidFill>
                <a:latin typeface="Consolas"/>
                <a:ea typeface="Consolas"/>
                <a:cs typeface="Consolas"/>
                <a:sym typeface="Consolas"/>
              </a:rPr>
              <a:t>  experience_level: ExperienceLevel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11480" y="229514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11480" y="251460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class FeedbackRequest(BaseModel):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11480" y="273405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4F2"/>
                </a:solidFill>
                <a:latin typeface="Consolas"/>
                <a:ea typeface="Consolas"/>
                <a:cs typeface="Consolas"/>
                <a:sym typeface="Consolas"/>
              </a:rPr>
              <a:t>  code: str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11480" y="295351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4F2"/>
                </a:solidFill>
                <a:latin typeface="Consolas"/>
                <a:ea typeface="Consolas"/>
                <a:cs typeface="Consolas"/>
                <a:sym typeface="Consolas"/>
              </a:rPr>
              <a:t>  rating: int  # ge=1, le=5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411480" y="317296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4F2"/>
                </a:solidFill>
                <a:latin typeface="Consolas"/>
                <a:ea typeface="Consolas"/>
                <a:cs typeface="Consolas"/>
                <a:sym typeface="Consolas"/>
              </a:rPr>
              <a:t>  comment: Optional[str]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RESPONSE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846320" y="1325880"/>
            <a:ext cx="4023360" cy="804672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4846320" y="1325880"/>
            <a:ext cx="54864" cy="804672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4983480" y="13807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AnalyzeResponse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983480" y="167335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code_summary, detected_issues, improvements, best_practices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4846320" y="2240280"/>
            <a:ext cx="4023360" cy="804672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4846320" y="2240280"/>
            <a:ext cx="54864" cy="804672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4983480" y="22951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ExplainResponse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983480" y="258775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explanation, complexity_level, key_concepts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846320" y="3154680"/>
            <a:ext cx="4023360" cy="804672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4846320" y="3154680"/>
            <a:ext cx="54864" cy="804672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4983480" y="32095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ImproveResponse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4983480" y="350215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current_code_summary, suggested_improvements, optimized_code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846320" y="4069080"/>
            <a:ext cx="4023360" cy="804672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4846320" y="4069080"/>
            <a:ext cx="54864" cy="804672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4983480" y="41239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ReviewResponse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983480" y="441655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overall_score, detected_issues, security_concerns, maintainability_score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274320" y="3703320"/>
            <a:ext cx="3931920" cy="1097280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411480" y="37673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ExperienceLevel Enum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411480" y="4114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BEGINNER  |  INTERMEDIATE  |  EXPERT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11480" y="44348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Validates &amp; drives prompt tone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ERROR HANDLING &amp;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Robust error design + Pytest 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274320" y="987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HTTP ERROR RESPONSES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274320" y="13533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274320" y="1353312"/>
            <a:ext cx="777240" cy="56692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274320" y="1353312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1143000" y="148132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Bad Request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274320" y="20391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274320" y="2039112"/>
            <a:ext cx="777240" cy="56692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274320" y="2039112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143000" y="216712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Validation 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274320" y="27249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274320" y="2724912"/>
            <a:ext cx="777240" cy="566928"/>
          </a:xfrm>
          <a:prstGeom prst="rect">
            <a:avLst/>
          </a:prstGeom>
          <a:solidFill>
            <a:srgbClr val="9A3412"/>
          </a:solidFill>
          <a:ln cap="flat" cmpd="sng" w="12700">
            <a:solidFill>
              <a:srgbClr val="9A34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274320" y="2724912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1143000" y="285292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Rate Limit Exceeded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274320" y="34107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274320" y="3410712"/>
            <a:ext cx="777240" cy="566928"/>
          </a:xfrm>
          <a:prstGeom prst="rect">
            <a:avLst/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274320" y="3410712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1143000" y="353872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AI Service Unavailable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274320" y="40965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274320" y="4096512"/>
            <a:ext cx="777240" cy="566928"/>
          </a:xfrm>
          <a:prstGeom prst="rect">
            <a:avLst/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274320" y="4096512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1143000" y="422452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Internal Server 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754880" y="987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PYTEST TEST SUITE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4754880" y="13533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4828032" y="1499616"/>
            <a:ext cx="274320" cy="27432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5193792" y="14081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test_routes.py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193792" y="16642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All 6 endpoints + validation edge cases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754880" y="20391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4828032" y="2185416"/>
            <a:ext cx="274320" cy="27432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5193792" y="20939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test_services.py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5193792" y="23500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Gemini API mock + error handling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754880" y="27249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4828032" y="2871216"/>
            <a:ext cx="274320" cy="27432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5193792" y="27797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test_database.py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193792" y="30358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PostgreSQL save + failure simulation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754880" y="34107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4828032" y="3557016"/>
            <a:ext cx="274320" cy="27432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5193792" y="34655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test_feedback_service.py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5193792" y="37216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Feedback DB + JSON file write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754880" y="4096512"/>
            <a:ext cx="4114800" cy="566928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828032" y="4242816"/>
            <a:ext cx="274320" cy="27432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5193792" y="41513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onsolas"/>
                <a:ea typeface="Consolas"/>
                <a:cs typeface="Consolas"/>
                <a:sym typeface="Consolas"/>
              </a:rPr>
              <a:t>test_utils.py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5193792" y="440740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Language detector, prompt builder, error handler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Code Mentor goes next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256032" y="1115568"/>
            <a:ext cx="1572768" cy="35661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256032" y="1115568"/>
            <a:ext cx="1572768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585216" y="1261872"/>
            <a:ext cx="914400" cy="256032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585216" y="12618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585216" y="1664208"/>
            <a:ext cx="91440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585216" y="166420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347472" y="2377440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347472" y="2971800"/>
            <a:ext cx="1389888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React or Streamlit dashboard for interactive 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1993392" y="1115568"/>
            <a:ext cx="1572768" cy="35661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1993392" y="1115568"/>
            <a:ext cx="1572768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2322576" y="1261872"/>
            <a:ext cx="914400" cy="256032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2322576" y="12618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2322576" y="1664208"/>
            <a:ext cx="91440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2322576" y="166420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2084832" y="2377440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Multi-LLM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2084832" y="2971800"/>
            <a:ext cx="1389888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Add OpenAI GPT-4 and local Ollama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3730752" y="1115568"/>
            <a:ext cx="1572768" cy="35661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3730752" y="1115568"/>
            <a:ext cx="1572768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4059936" y="1261872"/>
            <a:ext cx="914400" cy="256032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4059936" y="12618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4059936" y="1664208"/>
            <a:ext cx="91440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4059936" y="166420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3822192" y="2377440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3822192" y="2971800"/>
            <a:ext cx="1389888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Track past analyses per user session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5468112" y="1115568"/>
            <a:ext cx="1572768" cy="35661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5468112" y="1115568"/>
            <a:ext cx="1572768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5797296" y="1261872"/>
            <a:ext cx="914400" cy="256032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5797296" y="12618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5797296" y="1664208"/>
            <a:ext cx="91440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5797296" y="166420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5559552" y="2377440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Fine-Tuning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5559552" y="2971800"/>
            <a:ext cx="1389888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Personalize recommendations to coding style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7205472" y="1115568"/>
            <a:ext cx="1572768" cy="3566160"/>
          </a:xfrm>
          <a:prstGeom prst="rect">
            <a:avLst/>
          </a:prstGeom>
          <a:solidFill>
            <a:srgbClr val="162230"/>
          </a:solidFill>
          <a:ln cap="flat" cmpd="sng" w="12700">
            <a:solidFill>
              <a:srgbClr val="1B2B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7205472" y="1115568"/>
            <a:ext cx="1572768" cy="54864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7534656" y="1261872"/>
            <a:ext cx="914400" cy="256032"/>
          </a:xfrm>
          <a:prstGeom prst="rect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7534656" y="12618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7534656" y="1664208"/>
            <a:ext cx="914400" cy="548640"/>
          </a:xfrm>
          <a:prstGeom prst="ellipse">
            <a:avLst/>
          </a:prstGeom>
          <a:solidFill>
            <a:srgbClr val="0A8F7C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7534656" y="166420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7296912" y="2377440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7296912" y="2971800"/>
            <a:ext cx="1389888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FA8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8B8"/>
                </a:solidFill>
                <a:latin typeface="Calibri"/>
                <a:ea typeface="Calibri"/>
                <a:cs typeface="Calibri"/>
                <a:sym typeface="Calibri"/>
              </a:rPr>
              <a:t>VS Code extension for in-editor assistance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2A8">
              <a:alpha val="10196"/>
            </a:srgbClr>
          </a:solidFill>
          <a:ln cap="flat" cmpd="sng" w="12700">
            <a:solidFill>
              <a:srgbClr val="00C2A8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0C2A8">
              <a:alpha val="12156"/>
            </a:srgbClr>
          </a:solidFill>
          <a:ln cap="flat" cmpd="sng" w="12700">
            <a:solidFill>
              <a:srgbClr val="00C2A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3200400" y="36576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{ }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Code Mentor — AI Pair Programmer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00C2A8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F4F2"/>
                </a:solidFill>
                <a:latin typeface="Calibri"/>
                <a:ea typeface="Calibri"/>
                <a:cs typeface="Calibri"/>
                <a:sym typeface="Calibri"/>
              </a:rPr>
              <a:t>Harshit Mutha  •  Nupur Sawant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1371600" y="416052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1371600" y="4160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2788920" y="416052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2788920" y="4160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Gemini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4206240" y="416052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4206240" y="4160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5623560" y="416052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5623560" y="4160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Pydantic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7040880" y="4160520"/>
            <a:ext cx="1234440" cy="274320"/>
          </a:xfrm>
          <a:prstGeom prst="rect">
            <a:avLst/>
          </a:prstGeom>
          <a:solidFill>
            <a:srgbClr val="1B2B3B"/>
          </a:solidFill>
          <a:ln cap="flat" cmpd="sng" w="127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7040880" y="4160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