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6" r:id="rId26"/>
    <p:sldId id="275" r:id="rId25"/>
    <p:sldId id="274" r:id="rId24"/>
    <p:sldId id="273" r:id="rId23"/>
    <p:sldId id="272" r:id="rId22"/>
    <p:sldId id="271" r:id="rId21"/>
    <p:sldId id="270" r:id="rId20"/>
    <p:sldId id="269" r:id="rId19"/>
    <p:sldId id="262" r:id="rId8"/>
    <p:sldId id="263" r:id="rId9"/>
    <p:sldId id="264" r:id="rId10"/>
    <p:sldId id="265" r:id="rId11"/>
    <p:sldId id="268" r:id="rId18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399"/>
            <a:ext cx="9144000" cy="5692877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8229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dirty="0">
                <a:solidFill>
                  <a:srgbClr val="FFFFFF"/>
                </a:solidFill>
              </a:rPr>
              <a:t>Job Placement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5168"/>
            <a:ext cx="8229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dirty="0">
                <a:solidFill>
                  <a:srgbClr val="B0BEC5"/>
                </a:solidFill>
              </a:rPr>
              <a:t>An AI-Powered Career Assistant — Job Search · Resume Analysis
Skill Gap Detection · Cover Letter Generation</a:t>
            </a:r>
            <a:endParaRPr lang="en-US" sz="1800" b="0" dirty="0">
              <a:solidFill>
                <a:srgbClr val="B0BEC5"/>
              </a:solidFill>
            </a:endParaRPr>
          </a:p>
          <a:p>
            <a:pPr algn="ctr"/>
            <a:r>
              <a:rPr lang="en-IN" sz="1800" b="0" dirty="0">
                <a:solidFill>
                  <a:srgbClr val="B0BEC5"/>
                </a:solidFill>
              </a:rPr>
              <a:t>Arockia &amp; Harshit</a:t>
            </a:r>
            <a:endParaRPr sz="1800" b="0" dirty="0">
              <a:solidFill>
                <a:srgbClr val="B0BEC5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6738914"/>
            <a:ext cx="9144000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1B2A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4023359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02920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" y="1234440"/>
            <a:ext cx="429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09728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D1B2A"/>
                </a:solidFill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Why this agent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005840"/>
            <a:ext cx="4023359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59" y="1005840"/>
            <a:ext cx="502920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1234440"/>
            <a:ext cx="429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09728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Architecture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55448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System design at a glance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286000"/>
            <a:ext cx="4023359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2286000"/>
            <a:ext cx="502920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0896" y="2514600"/>
            <a:ext cx="429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37744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Key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83464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What the agent can 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2286000"/>
            <a:ext cx="4023359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80559" y="2286000"/>
            <a:ext cx="502920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17136" y="2514600"/>
            <a:ext cx="429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2377440"/>
            <a:ext cx="34289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0D1B2A"/>
                </a:solidFill>
              </a:rPr>
              <a:t>Topics</a:t>
            </a:r>
            <a:r>
              <a:rPr sz="1400" b="1" dirty="0">
                <a:solidFill>
                  <a:srgbClr val="0D1B2A"/>
                </a:solidFill>
              </a:rPr>
              <a:t>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834640"/>
            <a:ext cx="34289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37474F"/>
                </a:solidFill>
              </a:rPr>
              <a:t>Sprints </a:t>
            </a:r>
            <a:r>
              <a:rPr lang="en-US" sz="1000" b="0" dirty="0">
                <a:solidFill>
                  <a:srgbClr val="37474F"/>
                </a:solidFill>
              </a:rPr>
              <a:t>2 Topics</a:t>
            </a:r>
            <a:endParaRPr sz="1000" b="0" dirty="0">
              <a:solidFill>
                <a:srgbClr val="37474F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" y="3566160"/>
            <a:ext cx="4023359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3566160"/>
            <a:ext cx="502920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0896" y="3794760"/>
            <a:ext cx="429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65760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Live Demo 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11480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End-to-end user journey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59" y="3566160"/>
            <a:ext cx="4023359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480559" y="3566160"/>
            <a:ext cx="502920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17136" y="3794760"/>
            <a:ext cx="429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365760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Observability &amp; Auth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411480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Langfuse tracing · Auth0 JWT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846319"/>
            <a:ext cx="4023359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74320" y="4846319"/>
            <a:ext cx="502920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10896" y="5074919"/>
            <a:ext cx="429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937759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Testing &amp; Quality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394959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99% test coverage · 376 tests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59" y="4846319"/>
            <a:ext cx="4023359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480559" y="4846319"/>
            <a:ext cx="502920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17136" y="5074919"/>
            <a:ext cx="429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20" y="4937759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Deployment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4920" y="5394959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Vercel serverless · gRPC + FastAPI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7474F"/>
                </a:solidFill>
              </a:rPr>
              <a:t>Job seekers waste hours on fragmented, manual tasks: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54864" cy="6400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Searching dozens of 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56231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74F"/>
                </a:solidFill>
              </a:rPr>
              <a:t>No single place to find relevant roles by title + location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14600"/>
            <a:ext cx="54864" cy="6400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Unclear resume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62072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74F"/>
                </a:solidFill>
              </a:rPr>
              <a:t>Hard to know which skills are missing without expert feedback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20440"/>
            <a:ext cx="54864" cy="6400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Generic cover letters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67912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74F"/>
                </a:solidFill>
              </a:rPr>
              <a:t>Tailoring letters for each role is time-consuming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526280"/>
            <a:ext cx="54864" cy="6400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No guided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73752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74F"/>
                </a:solidFill>
              </a:rPr>
              <a:t>Users jump between tools with no connected, intelligent 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577840"/>
            <a:ext cx="841248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5623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Solution: One conversational AI agent that guides users from search → analysis →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</a:rP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6858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09728" cy="685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FRONTEND  (Streamlit / index.html)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Chat UI · Resume Paste · Quick Actions · Session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6642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7474F"/>
                </a:solidFill>
              </a:rPr>
              <a:t>HTTP REST / gRPC-Web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8595360" cy="777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920240"/>
            <a:ext cx="109728" cy="7772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956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BACKEND  (FastAPI · gRPC Server · Vercel Serverless)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677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/api/health · /api/auth/token · /api/chat · /api/chat/stream · /api/chat/route · /api/jobs/search · /api/resume/analyze · /api/cover-letter/gen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956816"/>
            <a:ext cx="1920240" cy="5943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993392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57F17"/>
                </a:solidFill>
              </a:rPr>
              <a:t>Auth0 JWT
RS256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34640"/>
            <a:ext cx="8595360" cy="777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2834640"/>
            <a:ext cx="109728" cy="777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8712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LANGCHAIN AGENT  (job_agent.py)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1821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create_tool_calling_agent · AgentExecutor · RunnableWithMessageHistory · LCEL Router · Async .ainvoke() · SSE astream_events()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49039"/>
            <a:ext cx="274320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7673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</a:rPr>
              <a:t>search_jobs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0690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SerpAPI
Google Jobs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4679" y="3749039"/>
            <a:ext cx="274320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46120" y="37673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</a:rPr>
              <a:t>analyze_resume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0690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LCEL Chain
StrOutputParser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749039"/>
            <a:ext cx="274320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79" y="37673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</a:rPr>
              <a:t>generate_cover_letter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9" y="40690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LCEL Chain
StrOutputParser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663440"/>
            <a:ext cx="274320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4681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965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EC5"/>
                </a:solidFill>
              </a:rPr>
              <a:t>gemini-2.0-flash
OpenAI-compat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79" y="4663440"/>
            <a:ext cx="274320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46120" y="4681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SerpAPI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4965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EC5"/>
                </a:solidFill>
              </a:rPr>
              <a:t>Real-time Google
Jobs results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4663440"/>
            <a:ext cx="274320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26479" y="4681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Langfuse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79" y="4965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EC5"/>
                </a:solidFill>
              </a:rPr>
              <a:t>LLM Observability
CallbackHandler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4864" cy="685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79" y="91440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Real-Time Job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24358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 err="1">
                <a:solidFill>
                  <a:srgbClr val="37474F"/>
                </a:solidFill>
              </a:rPr>
              <a:t>SerpAPI</a:t>
            </a:r>
            <a:r>
              <a:rPr sz="900" b="0" dirty="0">
                <a:solidFill>
                  <a:srgbClr val="37474F"/>
                </a:solidFill>
              </a:rPr>
              <a:t> Google Jobs — 5-10 live listings by role + city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914400"/>
            <a:ext cx="54864" cy="685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91440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Resume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24358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LLM-powered skill extraction, experience scoring, quality rating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74519"/>
            <a:ext cx="54864" cy="685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79" y="1874519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Skill Gap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203703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Side-by-side resume vs. JD comparison with match percentage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1874519"/>
            <a:ext cx="54864" cy="685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874519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Cover Letter Generator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03703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Tailored, role-specific letters generated in seconds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34640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79" y="283464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Conversational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16382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RunnableWithMessageHistory — context preserved across turns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2834640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7720" y="283464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SSE Token Streaming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16382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Token-by-token response via FastAPI StreamingResponse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94760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79" y="379476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LCEL Intent Router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12394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RunnableBranch classifies intent → routes to specialist chain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3794760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379476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Async Agent (.ainvoke)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12394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Non-blocking LLM calls keep the FastAPI event loop free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754880"/>
            <a:ext cx="54864" cy="68580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79" y="475488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Auth0 JWT Auth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508406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RS256 signature validation via JWKS — all protected endpoints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59" y="4754880"/>
            <a:ext cx="54864" cy="68580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17720" y="475488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Langfuse Observability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508406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Full trace: LLM calls, tools, latency, errors, session grouping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715000"/>
            <a:ext cx="54864" cy="68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79" y="571500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99% Test Coverage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604418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376 tests — unit, integration, FastAPI TestClient, gRPC servicer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59" y="5715000"/>
            <a:ext cx="54864" cy="68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17720" y="571500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Dual Transport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604418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FastAPI (REST + SSE) + gRPC + gRPC-Web on a single servicer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</a:rPr>
              <a:t>Sprint Coverage (2 – 9)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206240" cy="1051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868680" cy="1051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23444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96012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LLM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53312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ChatOpenAI via Gemini OpenAI-compat API · lru_cache · Async .ainvoke()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59" y="914400"/>
            <a:ext cx="4206240" cy="1051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59" y="914400"/>
            <a:ext cx="868680" cy="1051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82312" y="123444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79" y="96012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LangChain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79" y="1353312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search_jobs · analyze_resume · generate_cover_letter — @tool decorator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48840"/>
            <a:ext cx="4206240" cy="1051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2148840"/>
            <a:ext cx="868680" cy="1051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46888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Sprint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19456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Agent +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587752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create_tool_calling_agent · AgentExecutor · RunnableWithMessageHistory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59" y="2148840"/>
            <a:ext cx="4206240" cy="1051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09159" y="2148840"/>
            <a:ext cx="868680" cy="1051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82312" y="246888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Sprint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79" y="219456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LCEL Chains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79" y="2587752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Pipe syntax  prompt | llm | StrOutputParser()  in every tool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383280"/>
            <a:ext cx="4206240" cy="1051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68680" cy="1051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" y="370332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Sprint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342900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Router Chains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822191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RunnableBranch · intent classifier → specialist chain dispatch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59" y="3383280"/>
            <a:ext cx="4206240" cy="1051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09159" y="3383280"/>
            <a:ext cx="868680" cy="1051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82312" y="370332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Sprint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79" y="342900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Streaming (SSE)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79" y="3822191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astream_events() · FastAPI StreamingResponse · token-by-token delivery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617720"/>
            <a:ext cx="4206240" cy="1051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4320" y="4617720"/>
            <a:ext cx="868680" cy="1051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7472" y="493776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Sprint 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466344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Auth0 + Observability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056632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RS256 JWT · JWKS validation · Langfuse CallbackHandler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09159" y="4617720"/>
            <a:ext cx="4206240" cy="1051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709159" y="4617720"/>
            <a:ext cx="868680" cy="1051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82312" y="493776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Sprint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79" y="466344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gRPC Transport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79" y="5056632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Protobuf service · grpcio servicer · gRPC-Web for browser clients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</a:rPr>
              <a:t>Live Demo — End-to-End User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206240" cy="14173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45720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9875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Session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444752"/>
            <a:ext cx="3977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User opens chat UI → POST /api/session → server returns UUID session_id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59" y="914400"/>
            <a:ext cx="4206240" cy="14173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59" y="914400"/>
            <a:ext cx="45720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599" y="9875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799" y="9875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Job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444752"/>
            <a:ext cx="3977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"Find Python developer jobs in Austin" → Agent calls search_jobs() via SerpAPI → 8 live listings returned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14600"/>
            <a:ext cx="4206240" cy="14173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2514600"/>
            <a:ext cx="45720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5877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25877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Resume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044952"/>
            <a:ext cx="3977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User pastes resume → Agent calls analyze_resume() via LCEL chain → Skills, gaps, score returned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59" y="2514600"/>
            <a:ext cx="4206240" cy="14173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09159" y="2514600"/>
            <a:ext cx="45720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00599" y="25877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799" y="25877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Intent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044952"/>
            <a:ext cx="3977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POST /api/chat/route → LCEL RunnableBranch classifies 'cover letter' intent → specialist chain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114800"/>
            <a:ext cx="4206240" cy="14173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4114800"/>
            <a:ext cx="45720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41879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1879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Cover Letter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645152"/>
            <a:ext cx="3977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Agent calls generate_cover_letter() → tailored 350-word letter in seconds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59" y="4114800"/>
            <a:ext cx="4206240" cy="14173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09159" y="4114800"/>
            <a:ext cx="45720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00599" y="41879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799" y="41879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Streaming Reply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4645152"/>
            <a:ext cx="3977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POST /api/chat/stream → SSE StreamingResponse → tokens appear progressively in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</a:rPr>
              <a:t>API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960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960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960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8595360" cy="3200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2608" y="1325880"/>
            <a:ext cx="594360" cy="219456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" y="1335024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13258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</a:rPr>
              <a:t>Public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13258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Health check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27631"/>
            <a:ext cx="8595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2608" y="1673351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1752" y="1682495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1673351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/api/auth/token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673351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</a:rPr>
              <a:t>Public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1673351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Get Auth0 access token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975104"/>
            <a:ext cx="8595360" cy="3200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2608" y="2020824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1752" y="2029968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202082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/api/chat/public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87952" y="202082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</a:rPr>
              <a:t>Public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9472" y="2020824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Chat (no auth — demo/Streamlit)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322576"/>
            <a:ext cx="8595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92608" y="2368296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1752" y="2377440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" y="236829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/api/session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87952" y="236829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</a:rPr>
              <a:t>Public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9472" y="2368296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Create a new session UUID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670048"/>
            <a:ext cx="8595360" cy="3200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92608" y="2715768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01752" y="2724912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" y="271576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/api/chat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87952" y="27157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7F17"/>
                </a:solidFill>
              </a:rPr>
              <a:t>JWT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9472" y="271576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Chat with the agent (authenticated)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017520"/>
            <a:ext cx="8595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92608" y="3063239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01752" y="3072384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" y="3063239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/api/chat/async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87952" y="3063239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7F17"/>
                </a:solidFill>
              </a:rPr>
              <a:t>JWT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19472" y="3063239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Async chat via .ainvoke()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364992"/>
            <a:ext cx="8595360" cy="3200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92608" y="3410712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01752" y="341985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" y="341071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/api/chat/stream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87952" y="341071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</a:rPr>
              <a:t>Public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19472" y="341071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SSE streaming — token-by-token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712464"/>
            <a:ext cx="8595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92608" y="3758184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01752" y="3767328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" y="375818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/api/chat/route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87952" y="375818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</a:rPr>
              <a:t>Public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19472" y="3758184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LCEL intent router dispatch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059935"/>
            <a:ext cx="8595360" cy="3200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92608" y="4105655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01752" y="4114799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264" y="4105655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/api/jobs/search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4105655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7F17"/>
                </a:solidFill>
              </a:rPr>
              <a:t>JWT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19472" y="4105655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Direct SerpAPI job search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407408"/>
            <a:ext cx="8595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292608" y="4453128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01752" y="4462272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9264" y="445312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/api/resume/analyze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87952" y="445312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7F17"/>
                </a:solidFill>
              </a:rPr>
              <a:t>JWT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19472" y="445312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Direct resume analysis with Langfuse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4754879"/>
            <a:ext cx="8595360" cy="3200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92608" y="4800599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01752" y="4809743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9264" y="4800599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/api/cover-letter/gen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87952" y="4800599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7F17"/>
                </a:solidFill>
              </a:rPr>
              <a:t>JWT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19472" y="4800599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Direct cover letter generation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102352"/>
            <a:ext cx="8595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292608" y="5148072"/>
            <a:ext cx="594360" cy="219456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01752" y="515721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9264" y="514807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/api/chat/{session_id}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87952" y="514807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7F17"/>
                </a:solidFill>
              </a:rPr>
              <a:t>JWT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919472" y="514807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Clear session conversation memory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5449824"/>
            <a:ext cx="8595360" cy="3200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92608" y="5495544"/>
            <a:ext cx="594360" cy="219456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01752" y="5504688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69264" y="549554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/api/sessions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87952" y="549554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7F17"/>
                </a:solidFill>
              </a:rPr>
              <a:t>JWT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19472" y="5495544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List all active session IDs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</a:rPr>
              <a:t>Observability &amp; Authentication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160520" cy="5074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4160520" cy="38404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95097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Langfuse Observability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508760"/>
            <a:ext cx="731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LLM calls — prompts, completions, token counts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2057400"/>
            <a:ext cx="731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1167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Tool invocations — tool name, args,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606040"/>
            <a:ext cx="731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5603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Latency — end-to-end and per-step timing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3154679"/>
            <a:ext cx="731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10895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Errors — exceptions with full stack context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703320"/>
            <a:ext cx="731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Traces grouped by session_id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4251959"/>
            <a:ext cx="731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Named: job-placement-agent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4800599"/>
            <a:ext cx="731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75487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Flush on every request (Vercel-safe)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5349240"/>
            <a:ext cx="731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53035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Enabled only when LANGFUSE_SECRET_KEY is 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914400"/>
            <a:ext cx="4160520" cy="50749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09160" y="914400"/>
            <a:ext cx="416052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0" y="95097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Auth0 JWT Authentication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18888" y="1508760"/>
            <a:ext cx="73152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83480" y="14630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RS256 JWT signed by Auth0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18888" y="2057400"/>
            <a:ext cx="73152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83480" y="201167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JWKS endpoint for public key fetch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18888" y="2606040"/>
            <a:ext cx="73152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83480" y="25603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Validates: signature, audience, issuer, expiry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18888" y="3154679"/>
            <a:ext cx="73152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83480" y="310895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lru_cache on JWKS (avoids repeated fetches)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18888" y="3703320"/>
            <a:ext cx="73152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83480" y="36576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Public endpoints: /api/health, /api/chat/public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18888" y="4251959"/>
            <a:ext cx="73152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83480" y="42062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Protected: all others require Bearer token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18888" y="4800599"/>
            <a:ext cx="73152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83480" y="475487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POST /api/auth/token returns access token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18888" y="5349240"/>
            <a:ext cx="73152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83480" y="53035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python-jose[cryptography] for verification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</a:rPr>
              <a:t>Testing &amp; Code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1E88E5"/>
                </a:solidFill>
              </a:rPr>
              <a:t>99%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051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Total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</a:rPr>
              <a:t>376 tests · 0 failures · 1 016 statements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51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pytest + pytest-cov
pytest-mock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40280"/>
            <a:ext cx="420624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0" y="2240280"/>
            <a:ext cx="9144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22951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test_agent.py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679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run_agent · async · stream · _build_agent_executor · flush swallowing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49631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37 tests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59" y="2240280"/>
            <a:ext cx="420624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09559" y="2240280"/>
            <a:ext cx="9144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18888" y="22951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test_llm.py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2679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get_llm · invoke_llm · openai isinstance branches · ImportError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249631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27 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00400"/>
            <a:ext cx="420624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474720" y="3200400"/>
            <a:ext cx="9144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" y="32552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test_router.py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6393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route_query · RunnableBranch · classify chain · intent labels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345643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19 tests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59" y="3200400"/>
            <a:ext cx="420624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909559" y="3200400"/>
            <a:ext cx="9144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18888" y="32552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test_tools_*.py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8888" y="36393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job_search · resume_analyzer · cover_letter · GeminiError branches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7848" y="345643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51 tests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160520"/>
            <a:ext cx="420624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474720" y="4160520"/>
            <a:ext cx="9144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" y="42153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test_fastapi_app.py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45994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TestClient · all 13 endpoints · AppError handler · SSE stream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3008" y="441655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67 tests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59" y="4160520"/>
            <a:ext cx="420624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909559" y="4160520"/>
            <a:ext cx="9144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18888" y="42153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test_main.py (gRPC)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8888" y="45994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JobAgentServicer · RPCs · _require_auth · _map_app_error · serve()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27848" y="441655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69 tests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120640"/>
            <a:ext cx="420624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474720" y="5120640"/>
            <a:ext cx="9144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51755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test_auth0.py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55595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fetch_token · verify_token · JWKS cache · error handling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537667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38 tests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09159" y="5120640"/>
            <a:ext cx="420624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909559" y="5120640"/>
            <a:ext cx="9144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18888" y="51755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test_schemas.py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18888" y="55595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Pydantic models · validators · ApiResponse envelope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27848" y="537667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46 tests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Code Coverage Report — pytest --cov=src/backend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8AC8FF"/>
                </a:solidFill>
              </a:rPr>
              <a:t>376 tests · 0 failures · 1,016 statements · Python 3.13 · pytest 9.0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438912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79576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AC8FF"/>
                </a:solidFill>
              </a:rPr>
              <a:t>Module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600" y="1143000"/>
            <a:ext cx="91440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179576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AC8FF"/>
                </a:solidFill>
              </a:rPr>
              <a:t>Stmts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143000"/>
            <a:ext cx="82296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179576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AC8FF"/>
                </a:solidFill>
              </a:rPr>
              <a:t>Miss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1143000"/>
            <a:ext cx="100584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179576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AC8FF"/>
                </a:solidFill>
              </a:rPr>
              <a:t>Cover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435608"/>
            <a:ext cx="438912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472184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agent/job_agent.py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1435608"/>
            <a:ext cx="91440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472184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104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435608"/>
            <a:ext cx="82296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472184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1435608"/>
            <a:ext cx="100584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472184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28216"/>
            <a:ext cx="438912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1764792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agent/llm.py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1728216"/>
            <a:ext cx="91440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1764792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61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1728216"/>
            <a:ext cx="82296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1764792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1728216"/>
            <a:ext cx="100584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176479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020824"/>
            <a:ext cx="438912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057400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agent/router.py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2020824"/>
            <a:ext cx="91440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057400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2020824"/>
            <a:ext cx="82296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6440" y="2057400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0" y="2020824"/>
            <a:ext cx="100584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205740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313432"/>
            <a:ext cx="438912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2350008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agent/tools/cover_letter.py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00600" y="2313432"/>
            <a:ext cx="91440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2350008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35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2313432"/>
            <a:ext cx="82296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06440" y="2350008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9400" y="2313432"/>
            <a:ext cx="100584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235000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2606040"/>
            <a:ext cx="438912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2642616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agent/tools/job_search.py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00600" y="2606040"/>
            <a:ext cx="91440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46320" y="2642616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91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60720" y="2606040"/>
            <a:ext cx="82296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06440" y="2642616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9400" y="2606040"/>
            <a:ext cx="100584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2642616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2898648"/>
            <a:ext cx="438912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2935224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agent/tools/resume_analyzer.py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00600" y="2898648"/>
            <a:ext cx="91440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46320" y="2935224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45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60720" y="2898648"/>
            <a:ext cx="82296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06440" y="2935224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29400" y="2898648"/>
            <a:ext cx="100584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935224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3191256"/>
            <a:ext cx="438912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3227832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auth/auth0.py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800600" y="3191256"/>
            <a:ext cx="91440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46320" y="3227832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60720" y="3191256"/>
            <a:ext cx="82296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06440" y="3227832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29400" y="3191256"/>
            <a:ext cx="100584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22783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3483864"/>
            <a:ext cx="438912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" y="3520440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exceptions.py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00600" y="3483864"/>
            <a:ext cx="91440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46320" y="3520440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64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760720" y="3483864"/>
            <a:ext cx="82296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06440" y="3520440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29400" y="3483864"/>
            <a:ext cx="100584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3520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3776472"/>
            <a:ext cx="438912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3813048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fastapi_app.py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00600" y="3776472"/>
            <a:ext cx="91440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846320" y="3813048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118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760720" y="3776472"/>
            <a:ext cx="82296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806440" y="3813048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29400" y="3776472"/>
            <a:ext cx="100584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675120" y="38130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" y="4069080"/>
            <a:ext cx="438912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65760" y="4105656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grpc_server.py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800600" y="4069080"/>
            <a:ext cx="91440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846320" y="4105656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143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760720" y="4069080"/>
            <a:ext cx="82296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806440" y="4105656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629400" y="4069080"/>
            <a:ext cx="100584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675120" y="4105656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0040" y="4361688"/>
            <a:ext cx="438912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65760" y="4398264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main.py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800600" y="4361688"/>
            <a:ext cx="91440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846320" y="4398264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60720" y="4361688"/>
            <a:ext cx="82296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806440" y="4398264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629400" y="4361688"/>
            <a:ext cx="100584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675120" y="4398264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4654296"/>
            <a:ext cx="438912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65760" y="4690872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models/responses.py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800600" y="4654296"/>
            <a:ext cx="91440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846320" y="4690872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760720" y="4654296"/>
            <a:ext cx="82296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806440" y="4690872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629400" y="4654296"/>
            <a:ext cx="100584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675120" y="469087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20040" y="4946904"/>
            <a:ext cx="438912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65760" y="4983480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models/schemas.py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800600" y="4946904"/>
            <a:ext cx="91440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846320" y="4983480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112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760720" y="4946904"/>
            <a:ext cx="82296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806440" y="4983480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629400" y="4946904"/>
            <a:ext cx="100584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675120" y="498348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E06B"/>
                </a:solidFill>
              </a:rPr>
              <a:t>96%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20040" y="5239512"/>
            <a:ext cx="438912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65760" y="5276088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observability/langfuse_config.py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800600" y="5239512"/>
            <a:ext cx="91440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846320" y="5276088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760720" y="5239512"/>
            <a:ext cx="82296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806440" y="5276088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629400" y="5239512"/>
            <a:ext cx="100584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675120" y="527608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20040" y="5532120"/>
            <a:ext cx="4389120" cy="292608"/>
          </a:xfrm>
          <a:prstGeom prst="rect">
            <a:avLst/>
          </a:prstGeom>
          <a:solidFill>
            <a:srgbClr val="4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65760" y="5568696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index.py (entry point)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800600" y="5532120"/>
            <a:ext cx="914400" cy="292608"/>
          </a:xfrm>
          <a:prstGeom prst="rect">
            <a:avLst/>
          </a:prstGeom>
          <a:solidFill>
            <a:srgbClr val="4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846320" y="5568696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760720" y="5532120"/>
            <a:ext cx="822960" cy="292608"/>
          </a:xfrm>
          <a:prstGeom prst="rect">
            <a:avLst/>
          </a:prstGeom>
          <a:solidFill>
            <a:srgbClr val="4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806440" y="5568696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629400" y="5532120"/>
            <a:ext cx="1005840" cy="292608"/>
          </a:xfrm>
          <a:prstGeom prst="rect">
            <a:avLst/>
          </a:prstGeom>
          <a:solidFill>
            <a:srgbClr val="4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675120" y="5568696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6B6B"/>
                </a:solidFill>
              </a:rPr>
              <a:t>0%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20040" y="5824728"/>
            <a:ext cx="4389120" cy="292608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65760" y="5861304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800600" y="5824728"/>
            <a:ext cx="914400" cy="292608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846320" y="5861304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1016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760720" y="5824728"/>
            <a:ext cx="822960" cy="292608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806440" y="5861304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629400" y="5824728"/>
            <a:ext cx="1005840" cy="292608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675120" y="5861304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99%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20040" y="6254496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0A0C0"/>
                </a:solidFill>
              </a:rPr>
              <a:t>Remaining 11 missing lines: index.py (entry-point, untestable) · schemas.py validators (unreachable via Pydantic field constraints)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</a:rPr>
              <a:t>Deployment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160520" cy="2560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416052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Frontend — Vercel (Static)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index.html + build.js (Vite-bundled)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5623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Environment vars via inject-env.ps1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9514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CORS-enabled for API 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3405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vercel.json routes all to index.html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914400"/>
            <a:ext cx="4160520" cy="2560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09160" y="914400"/>
            <a:ext cx="416052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96012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Backend — Vercel (Serverless)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41732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FastAPI wrapped by Mangum (ASGI → Lambda)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85623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index.py as Vercel Python handler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29514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vercel.json → src/backend/index.py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73405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ENV vars in Vercel dashboard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03320"/>
            <a:ext cx="416052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3703320"/>
            <a:ext cx="41605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373989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gRPC — Local / Docker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1879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grpc_server.py  — native gRPC :50051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60857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grpc_web_server.py — gRPC-Web :8080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029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main.py starts both (threaded)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44982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Protobuf generated by generate_proto.py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3703320"/>
            <a:ext cx="4160520" cy="22860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709160" y="3703320"/>
            <a:ext cx="416052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0" y="373989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Quality Gates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1879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pytest --cov → 99% total coverage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0857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pytest.ini: pythonpath = src/backend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5029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conftest.py: sys.modules stubs (no real LLM)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544982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deploy-vercel.ps1: deploy automation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4160520" cy="1508760"/>
          </a:xfrm>
          <a:prstGeom prst="rect">
            <a:avLst/>
          </a:prstGeom>
          <a:solidFill>
            <a:srgbClr val="1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416052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88E5"/>
                </a:solidFill>
              </a:rPr>
              <a:t>Full-Stack AI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FastAPI REST + gRPC + gRPC-Web transports on one servicer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1371600"/>
            <a:ext cx="4160520" cy="1508760"/>
          </a:xfrm>
          <a:prstGeom prst="rect">
            <a:avLst/>
          </a:prstGeom>
          <a:solidFill>
            <a:srgbClr val="1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00600" y="1371600"/>
            <a:ext cx="416052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83480" y="1554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88E5"/>
                </a:solidFill>
              </a:rPr>
              <a:t>8 Sprint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05740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LCEL · Router · Async · SSE · Auth0 · Langfuse · gRPC · 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63240"/>
            <a:ext cx="4160520" cy="1508760"/>
          </a:xfrm>
          <a:prstGeom prst="rect">
            <a:avLst/>
          </a:prstGeom>
          <a:solidFill>
            <a:srgbClr val="1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416052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</a:rPr>
              <a:t>Production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49039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99% test coverage · typed schemas · domain exceptions · Vercel CI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3063240"/>
            <a:ext cx="4160520" cy="1508760"/>
          </a:xfrm>
          <a:prstGeom prst="rect">
            <a:avLst/>
          </a:prstGeom>
          <a:solidFill>
            <a:srgbClr val="1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00600" y="3063240"/>
            <a:ext cx="4160520" cy="54864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83480" y="3246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7F17"/>
                </a:solidFill>
              </a:rPr>
              <a:t>Observable &amp; Secure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749039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Langfuse traces every LLM call · Auth0 RS256 on all protected routes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Thank you  |  Questions?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909C"/>
                </a:solidFill>
              </a:rPr>
              <a:t>Job Placement Agent — NIIT Sprint 11 Capstone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1234440" cy="34747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73736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Sprint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46304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gRPC Transport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548640"/>
            <a:ext cx="9418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C8FF"/>
                </a:solidFill>
                <a:latin typeface="Calibri"/>
              </a:rPr>
              <a:t>Protobuf service  ·  grpcio servicer  ·  gRPC-Web for browser clients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868680"/>
            <a:ext cx="8686800" cy="2286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9144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80A0C0"/>
                </a:solidFill>
                <a:latin typeface="Courier New"/>
              </a:rPr>
              <a:t>src/backend/grpc_server.py  +  proto/job_agent.proto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8686800" cy="55046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243584"/>
            <a:ext cx="8540496" cy="541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grpc_server.py — Sprint 9: gRPC servicer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Proto: service JobAgentService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  rpc HealthCheck(HealthRequest)  returns (HealthResponse);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  rpc Chat       (ChatRequest)    returns (ChatResponse);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class JobAgentServicer(job_agent_pb2_grpc.JobAgentServiceServicer):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def HealthCheck(self, request, context):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return job_agent_pb2.HealthResponse(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    status='healthy', version='1.0.0',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    message='gRPC server is running.',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def Chat(self, request, context):  # protected RPC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user       = _require_auth(context)   # RS256 JWT check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session_id = request.session_id or str(uuid.uuid4())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try: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    resp = run_agent(request.message, session_id, user['sub'])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    return job_agent_pb2.ChatResponse(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        response=resp, session_id=session_id)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except AppError as exc: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    code, detail = _map_app_error(exc)  # domain → gRPC status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    context.abort(code, detail)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76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1234440" cy="347472"/>
          </a:xfrm>
          <a:prstGeom prst="rect">
            <a:avLst/>
          </a:prstGeom>
          <a:solidFill>
            <a:srgbClr val="276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73736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Sprint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46304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Auth0 + Observability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548640"/>
            <a:ext cx="9418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C8FF"/>
                </a:solidFill>
                <a:latin typeface="Calibri"/>
              </a:rPr>
              <a:t>RS256 JWT  ·  JWKS validation  ·  Langfuse CallbackHandler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868680"/>
            <a:ext cx="8686800" cy="22860"/>
          </a:xfrm>
          <a:prstGeom prst="rect">
            <a:avLst/>
          </a:prstGeom>
          <a:solidFill>
            <a:srgbClr val="276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9144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80A0C0"/>
                </a:solidFill>
                <a:latin typeface="Courier New"/>
              </a:rPr>
              <a:t>src/backend/auth/auth0.py  |  observability/langfuse_config.py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8686800" cy="55046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243584"/>
            <a:ext cx="8540496" cy="541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auth/auth0.py — Sprint 8: Auth0 RS256 JWT verification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CDCAA"/>
                </a:solidFill>
                <a:latin typeface="Courier New"/>
              </a:rPr>
              <a:t>@lru_cache(maxsize=1)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def _get_jwks() -&gt; dict: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resp = http_requests.get(f'https://{AUTH0_DOMAIN}/.well-known/jwks.json')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resp.raise_for_status()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return resp.json()   # cached for the process lifetime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def verify_token(token: str) -&gt; dict: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jwks   = _get_jwks()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header = jwt.get_unverified_header(token)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key    = next((k for k in jwks['keys'] if k['kid']==header['kid']), None)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return jwt.decode(token, key, algorithms=['RS256'],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             audience=AUTH0_AUDIENCE)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observability/langfuse_config.py — Langfuse CallbackHandler injection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def get_langfuse_handler(session_id, user_id=None):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from langfuse.callback import CallbackHandler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return CallbackHandler(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secret_key=LANGFUSE_SK, public_key=LANGFUSE_PK,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session_id=session_id,  user_id=user_id,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trace_name='job-placement-agent',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tags=['job-agent', 'langchain'],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123444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73736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Sprint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46304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Streaming (SSE)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548640"/>
            <a:ext cx="9418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C8FF"/>
                </a:solidFill>
                <a:latin typeface="Calibri"/>
              </a:rPr>
              <a:t>astream_events()  ·  FastAPI StreamingResponse  ·  token-by-token delivery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868680"/>
            <a:ext cx="8686800" cy="228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9144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80A0C0"/>
                </a:solidFill>
                <a:latin typeface="Courier New"/>
              </a:rPr>
              <a:t>src/backend/fastapi_app.py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8686800" cy="55046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243584"/>
            <a:ext cx="8540496" cy="541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fastapi_app.py — Sprint 7: SSE token streaming endpoint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from fastapi.responses import StreamingResponse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import json, uuid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CDCAA"/>
                </a:solidFill>
                <a:latin typeface="Courier New"/>
              </a:rPr>
              <a:t>@app.post('/api/chat/stream')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async def stream_chat(body: ChatRequest, request: Request):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session_id = body.session_id or str(uuid.uuid4())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async def event_generator():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        # stream_agent() yields tokens via .astream_events()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async for token in stream_agent(body.message, session_id):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    payload = json.dumps({'token': token, 'session_id': session_id})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    yield f'data: {payload}\n\n'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        # End-of-stream sentinel for the client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yield f'data: {json.dumps({"done": True})}\n\n'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return StreamingResponse(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event_generator(),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media_type='text/event-stream',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headers={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    'Cache-Control': 'no-cache',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    'X-Accel-Buffering': 'no',   # disable proxy buffering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1234440" cy="34747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73736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Sprint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46304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Router 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548640"/>
            <a:ext cx="9418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C8FF"/>
                </a:solidFill>
                <a:latin typeface="Calibri"/>
              </a:rPr>
              <a:t>RunnableBranch  ·  intent classifier  →  specialist chain dispatch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868680"/>
            <a:ext cx="8686800" cy="2286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9144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80A0C0"/>
                </a:solidFill>
                <a:latin typeface="Courier New"/>
              </a:rPr>
              <a:t>src/backend/agent/router.py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8686800" cy="55046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243584"/>
            <a:ext cx="8540496" cy="541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agent/router.py — Sprint 6: Intent routing with RunnableBranch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from langchain_core.runnables import RunnableBranch, RunnablePassthrough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CDCAA"/>
                </a:solidFill>
                <a:latin typeface="Courier New"/>
              </a:rPr>
              <a:t>@lru_cache(maxsize=1)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def get_router_pipeline():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llm, parser = get_llm(), StrOutputParser()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    # One specialist LCEL chain per intent (pipe syntax)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job_search_chain   = _JOB_SEARCH_PROMPT   | llm | parser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resume_chain       = _RESUME_PROMPT       | llm | parser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cover_letter_chain = _COVER_LETTER_PROMPT | llm | parser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general_chain      = _GENERAL_PROMPT      | llm | parser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branch = RunnableBranch(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(lambda x: 'job_search'   in x.get('intent',''), job_search_chain),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(lambda x: 'resume'       in x.get('intent',''), resume_chain),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(lambda x: 'cover_letter' in x.get('intent',''), cover_letter_chain),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general_chain,   # default branch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classify = _get_classify_chain()   # LLM intent classifier chain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return RunnablePassthrough.assign(intent=classify) | branch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123444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73736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Sprint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46304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LCEL 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548640"/>
            <a:ext cx="9418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C8FF"/>
                </a:solidFill>
                <a:latin typeface="Calibri"/>
              </a:rPr>
              <a:t>Pipe syntax  prompt | llm | StrOutputParser()  in every tool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868680"/>
            <a:ext cx="8686800" cy="228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9144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80A0C0"/>
                </a:solidFill>
                <a:latin typeface="Courier New"/>
              </a:rPr>
              <a:t>src/backend/agent/tools/resume_analyzer.py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8686800" cy="55046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243584"/>
            <a:ext cx="8540496" cy="541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agent/tools/resume_analyzer.py — Sprint 5: LCEL chain with pipe syntax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from langchain_core.prompts import ChatPromptTemplate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from langchain_core.output_parsers import StrOutputParser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from functools import lru_cache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CDCAA"/>
                </a:solidFill>
                <a:latin typeface="Courier New"/>
              </a:rPr>
              <a:t>@lru_cache(maxsize=1)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def _get_analysis_chain():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prompt_template = ChatPromptTemplate.from_messages([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('system', 'You are an expert career consultant.'),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('human', '{analysis_prompt}'),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])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    # Sprint 5 — LCEL pipe operator: prompt | llm | output_parser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return prompt_template | get_llm() | StrOutputParser()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def analyze_resume_core(resume_text, job_description='', callbacks=None):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if not resume_text or len(resume_text.strip()) &lt; 50: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raise ValueError('Resume text too short (min 50 chars).')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prompt = build_analysis_prompt(resume_text, job_description)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chain  = _get_analysis_chain()   # cached LCEL chain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cfg    = {'callbacks': callbacks} if callbacks else {}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return chain.invoke({'analysis_prompt': prompt}, config=cfg)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1234440" cy="34747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73736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Sprint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46304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Agent +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548640"/>
            <a:ext cx="9418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C8FF"/>
                </a:solidFill>
                <a:latin typeface="Calibri"/>
              </a:rPr>
              <a:t>create_tool_calling_agent  ·  AgentExecutor  ·  RunnableWithMessageHistory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868680"/>
            <a:ext cx="8686800" cy="228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9144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80A0C0"/>
                </a:solidFill>
                <a:latin typeface="Courier New"/>
              </a:rPr>
              <a:t>src/backend/agent/job_agent.py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8686800" cy="55046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243584"/>
            <a:ext cx="8540496" cy="541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agent/job_agent.py — Sprint 4: Tool-calling agent with session memory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from langchain.agents import AgentExecutor, create_tool_calling_agent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from langchain_core.runnables.history import RunnableWithMessageHistory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def _build_agent_executor() -&gt; AgentExecutor: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prompt = ChatPromptTemplate.from_messages([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('system', SYSTEM_PROMPT),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MessagesPlaceholder('chat_history'),  # injected by history wrapper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('human', '{input}'),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MessagesPlaceholder('agent_scratchpad'),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])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agent    = create_tool_calling_agent(get_llm(), tools, prompt)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return AgentExecutor(agent=agent, tools=tools,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                max_iterations=6, handle_parsing_errors=True)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Per-session conversation memory (in-process dict)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_session_store: dict[str, ChatMessageHistory] = {}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agent_with_history = RunnableWithMessageHistory(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executor, get_session_history,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input_messages_key='input', history_messages_key='chat_history',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1234440" cy="347472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73736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Sprint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46304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LangChain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548640"/>
            <a:ext cx="9418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C8FF"/>
                </a:solidFill>
                <a:latin typeface="Calibri"/>
              </a:rPr>
              <a:t>search_jobs  ·  analyze_resume  ·  generate_cover_letter  —  @tool decorator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868680"/>
            <a:ext cx="8686800" cy="2286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9144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80A0C0"/>
                </a:solidFill>
                <a:latin typeface="Courier New"/>
              </a:rPr>
              <a:t>src/backend/agent/tools/job_search.py  |  resume_analyzer.py  |  cover_letter.py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8686800" cy="55046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243584"/>
            <a:ext cx="8540496" cy="541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agent/tools/job_search.py — Sprint 3: LangChain @tool decorator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from langchain.tools import tool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CDCAA"/>
                </a:solidFill>
                <a:latin typeface="Courier New"/>
              </a:rPr>
              <a:t>@tool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def search_jobs(query: str, location: str = '') -&gt; str: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E9178"/>
                </a:solidFill>
                <a:latin typeface="Courier New"/>
              </a:rPr>
              <a:t>    """Search for live job listings via SerpAPI Google Jobs.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Use this when the user wants to find job opportunities.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CE9178"/>
                </a:solidFill>
                <a:latin typeface="Courier New"/>
              </a:rPr>
              <a:t>    """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try: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return fetch_job_listings(query, location)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except SerpApiConfigError as exc: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return f'Configuration error: {exc}'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except SerpApiRateLimitError: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return 'Rate limit hit. Please try again in a few minutes.'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except SerpApiNetworkError: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return 'Cannot reach SerpAPI. Check your connection.'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except SerpApiError as exc: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return f'Job search error: {exc}'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All three @tool functions registered with AgentExecutor: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tools = [search_jobs, analyze_resume, generate_cover_letter]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3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64592"/>
            <a:ext cx="1234440" cy="347472"/>
          </a:xfrm>
          <a:prstGeom prst="rect">
            <a:avLst/>
          </a:prstGeom>
          <a:solidFill>
            <a:srgbClr val="23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73736"/>
            <a:ext cx="1234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46304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LLM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548640"/>
            <a:ext cx="9418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AC8FF"/>
                </a:solidFill>
                <a:latin typeface="Calibri"/>
              </a:rPr>
              <a:t>ChatOpenAI via Gemini OpenAI-compat API  ·  lru_cache singleton  ·  Async .ainvoke()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868680"/>
            <a:ext cx="8686800" cy="22860"/>
          </a:xfrm>
          <a:prstGeom prst="rect">
            <a:avLst/>
          </a:prstGeom>
          <a:solidFill>
            <a:srgbClr val="23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91440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80A0C0"/>
                </a:solidFill>
                <a:latin typeface="Courier New"/>
              </a:rPr>
              <a:t>src/backend/agent/llm.py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8686800" cy="55046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243584"/>
            <a:ext cx="8540496" cy="5413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agent/llm.py — Sprint 2: LLM Integration via OpenAI-compatible Gemini API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from langchain_openai import ChatOpenAI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from functools import lru_cache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CDCAA"/>
                </a:solidFill>
                <a:latin typeface="Courier New"/>
              </a:rPr>
              <a:t>@lru_cache(maxsize=1)            # singleton — built once, reused forever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def get_llm():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api_key  = os.getenv('GEMINI_API_KEY', '')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model    = os.getenv('GEMINI_MODEL_NAME', 'gemini-2.0-flash')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base_url = os.getenv('GEMINI_BASE_URL',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'https://generativelanguage.googleapis.com/v1beta/openai/')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if not api_key: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    raise GeminiConfigError('GEMINI_API_KEY is not set.')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return ChatOpenAI(model=model, api_key=api_key,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             base_url=base_url, temperature=0.7, max_tokens=4096)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6A9955"/>
                </a:solidFill>
                <a:latin typeface="Courier New"/>
              </a:rPr>
              <a:t># Sprint 2, LO3 — Asynchronous LLM call with .ainvoke()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async def run_agent_async(user_message, session_id='default'):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result = await _get_agent().ainvoke(   # non-blocking async call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{'input': user_message},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    config={'configurable': {'session_id': session_id}},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D4D4D4"/>
                </a:solidFill>
                <a:latin typeface="Courier New"/>
              </a:rPr>
              <a:t>   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569CD6"/>
                </a:solidFill>
                <a:latin typeface="Courier New"/>
              </a:rPr>
              <a:t>    return result.get('output', '')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1481</Words>
  <Application>Microsoft Office PowerPoint</Application>
  <PresentationFormat>On-screen Show (4:3)</PresentationFormat>
  <Paragraphs>266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Arockia Dhanaraj David</cp:lastModifiedBy>
  <cp:revision>2</cp:revision>
  <dcterms:created xsi:type="dcterms:W3CDTF">2013-01-27T09:14:16Z</dcterms:created>
  <dcterms:modified xsi:type="dcterms:W3CDTF">2026-04-18T13:54:10Z</dcterms:modified>
  <cp:category/>
</cp:coreProperties>
</file>