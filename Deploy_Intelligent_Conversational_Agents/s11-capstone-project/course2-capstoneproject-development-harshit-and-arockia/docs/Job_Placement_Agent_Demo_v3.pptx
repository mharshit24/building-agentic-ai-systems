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28"/>
    <p:sldId id="277" r:id="rId27"/>
    <p:sldId id="261" r:id="rId7"/>
    <p:sldId id="276" r:id="rId26"/>
    <p:sldId id="275" r:id="rId25"/>
    <p:sldId id="274" r:id="rId24"/>
    <p:sldId id="273" r:id="rId23"/>
    <p:sldId id="272" r:id="rId22"/>
    <p:sldId id="271" r:id="rId21"/>
    <p:sldId id="270" r:id="rId20"/>
    <p:sldId id="269" r:id="rId19"/>
    <p:sldId id="262" r:id="rId8"/>
    <p:sldId id="263" r:id="rId9"/>
    <p:sldId id="264" r:id="rId10"/>
    <p:sldId id="265" r:id="rId11"/>
    <p:sldId id="268" r:id="rId18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5.xml"/><Relationship Id="rId9" Type="http://schemas.openxmlformats.org/officeDocument/2006/relationships/slide" Target="slides/slide16.xml"/><Relationship Id="rId10" Type="http://schemas.openxmlformats.org/officeDocument/2006/relationships/slide" Target="slides/slide17.xml"/><Relationship Id="rId11" Type="http://schemas.openxmlformats.org/officeDocument/2006/relationships/slide" Target="slides/slide18.xml"/><Relationship Id="rId12" Type="http://schemas.openxmlformats.org/officeDocument/2006/relationships/slide" Target="slides/slide20.xml"/><Relationship Id="rId13" Type="http://schemas.openxmlformats.org/officeDocument/2006/relationships/slide" Target="slides/slide2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9.xml"/><Relationship Id="rId19" Type="http://schemas.openxmlformats.org/officeDocument/2006/relationships/slide" Target="slides/slide14.xml"/><Relationship Id="rId20" Type="http://schemas.openxmlformats.org/officeDocument/2006/relationships/slide" Target="slides/slide13.xml"/><Relationship Id="rId21" Type="http://schemas.openxmlformats.org/officeDocument/2006/relationships/slide" Target="slides/slide12.xml"/><Relationship Id="rId22" Type="http://schemas.openxmlformats.org/officeDocument/2006/relationships/slide" Target="slides/slide11.xml"/><Relationship Id="rId23" Type="http://schemas.openxmlformats.org/officeDocument/2006/relationships/slide" Target="slides/slide10.xml"/><Relationship Id="rId24" Type="http://schemas.openxmlformats.org/officeDocument/2006/relationships/slide" Target="slides/slide9.xml"/><Relationship Id="rId25" Type="http://schemas.openxmlformats.org/officeDocument/2006/relationships/slide" Target="slides/slide8.xml"/><Relationship Id="rId26" Type="http://schemas.openxmlformats.org/officeDocument/2006/relationships/slide" Target="slides/slide7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399"/>
            <a:ext cx="9144000" cy="5692877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Job Placement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5168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B0BEC5"/>
                </a:solidFill>
              </a:rPr>
              <a:t>An AI-Powered Career Assistant — Job Search · Resume Analysis
Skill Gap Detection · Cover Letter Generation</a:t>
            </a:r>
            <a:endParaRPr lang="en-US" sz="1800" b="0" dirty="0">
              <a:solidFill>
                <a:srgbClr val="B0BEC5"/>
              </a:solidFill>
            </a:endParaRPr>
          </a:p>
          <a:p>
            <a:pPr algn="ctr"/>
            <a:r>
              <a:rPr lang="en-IN" sz="1800" b="0" dirty="0">
                <a:solidFill>
                  <a:srgbClr val="B0BEC5"/>
                </a:solidFill>
              </a:rPr>
              <a:t>Arockia &amp; Harshit</a:t>
            </a:r>
            <a:endParaRPr sz="1800" b="0" dirty="0">
              <a:solidFill>
                <a:srgbClr val="B0BEC5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738914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" y="123444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972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Why this agent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00584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00584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23444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0972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544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System design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" y="251460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7744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3464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What the agent can 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28600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59" y="228600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7136" y="251460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377440"/>
            <a:ext cx="3428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D1B2A"/>
                </a:solidFill>
              </a:rPr>
              <a:t>Topics</a:t>
            </a:r>
            <a:r>
              <a:rPr sz="1400" b="1" dirty="0">
                <a:solidFill>
                  <a:srgbClr val="0D1B2A"/>
                </a:solidFill>
              </a:rPr>
              <a:t>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834640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37474F"/>
                </a:solidFill>
              </a:rPr>
              <a:t>Sprints </a:t>
            </a:r>
            <a:r>
              <a:rPr lang="en-US" sz="1000" b="0" dirty="0">
                <a:solidFill>
                  <a:srgbClr val="37474F"/>
                </a:solidFill>
              </a:rPr>
              <a:t>2 Topics</a:t>
            </a:r>
            <a:endParaRPr sz="1000" b="0" dirty="0">
              <a:solidFill>
                <a:srgbClr val="37474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0896" y="379476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576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Live Demo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148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End-to-end user journey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59" y="356616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59" y="356616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7136" y="379476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6576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Observability &amp;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1148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Langfuse tracing · Auth0 JWT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46319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4846319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" y="5074919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9377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Testing &amp;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949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99% test coverage · 376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846319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80559" y="4846319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17136" y="5074919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9377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53949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Vercel serverless · gRPC + FastAPI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74F"/>
                </a:solidFill>
              </a:rPr>
              <a:t>Job seekers waste hours on fragmented, manual tasks: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Searching dozens of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No single place to find relevant roles by title +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Unclear resume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Hard to know which skills are missing without expert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Generic cover letters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Tailoring letters for each role is time-consuming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No guided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7375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Users jump between tools with no connected, intelligent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77840"/>
            <a:ext cx="841248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Solution: One conversational AI agent that guides users from search → analysis →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09728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FRONTEND  (Streamlit / 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Chat UI · Resume Paste · Quick Actions · 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7474F"/>
                </a:solidFill>
              </a:rPr>
              <a:t>HTTP REST / gRPC-Web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85953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109728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BACKEND  (FastAPI · gRPC Server · Vercel Serverless)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/api/health · /api/auth/token · /api/chat · /api/chat/stream · /api/chat/route · /api/jobs/search · /api/resume/analyze · /api/cover-letter/gen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956816"/>
            <a:ext cx="1920240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9933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7F17"/>
                </a:solidFill>
              </a:rPr>
              <a:t>Auth0 JWT
RS256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85953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09728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71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LANGCHAIN AGENT  (job_agent.py)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create_tool_calling_agent · AgentExecutor · RunnableWithMessageHistory · LCEL Router · Async .ainvoke() · SSE astream_events()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search_jobs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SerpAPI
Google Jobs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79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analyze_resume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Chain
StrOutputParser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79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generate_cover_letter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Chain
StrOutputParser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gemini-2.0-flash
OpenAI-compat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79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SerpAPI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Real-time Google
Jobs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79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LLM Observability
CallbackHandler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9144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Real-Time Job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2435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37474F"/>
                </a:solidFill>
              </a:rPr>
              <a:t>SerpAPI</a:t>
            </a:r>
            <a:r>
              <a:rPr sz="900" b="0" dirty="0">
                <a:solidFill>
                  <a:srgbClr val="37474F"/>
                </a:solidFill>
              </a:rPr>
              <a:t> Google Jobs — 5-10 live listings by role +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91440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9144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Resume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435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LLM-powered skill extraction, experience scoring, quality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Skill Gap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03703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Side-by-side resume vs. JD comparison with match percentage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874519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Cover Letter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03703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Tailored, role-specific letters generated 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283464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Conversational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16382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RunnableWithMessageHistory — context preserved across 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28346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283464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SSE Token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6382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Token-by-token response via FastAPI StreamingResponse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37947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LCEL Intent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1239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RunnableBranch classifies intent → routes to specialist chain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7947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7947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Async Agent (.ainvoke)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1239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Non-blocking LLM calls keep the FastAPI event loop free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54864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47548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Auth0 JWT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RS256 signature validation via JWKS — all protected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4754880"/>
            <a:ext cx="54864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47548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Langfuse 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Full trace: LLM calls, tools, latency, errors, session grouping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715000"/>
            <a:ext cx="54864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79" y="57150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99% Test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044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376 tests — unit, integration, FastAPI TestClient, gRPC servicer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59" y="5715000"/>
            <a:ext cx="54864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57150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Dual 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6044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FastAPI (REST + SSE) + gRPC + gRPC-Web on a single servicer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Sprint Coverage (2 – 9)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2344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60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LLM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5331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ChatOpenAI via Gemini OpenAI-compat API · lru_cache · Async .ainvoke()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1440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12344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960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LangChain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35331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search_jobs · analyze_resume · generate_cover_letter — @tool decorator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4884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14884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468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94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Agent +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58775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create_tool_calling_agent · AgentExecutor · RunnableWithMessageHistory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14884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59" y="214884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2312" y="2468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2194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LCEL Chains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58775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Pipe syntax  prompt | llm | StrOutputParser()  in every tool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8328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7033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29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Router Chains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82219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RunnableBranch · intent classifier → specialist chain dispatch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338328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338328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37033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3429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Streaming (SSE)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382219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astream_events() · FastAPI StreamingResponse · token-by-token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49377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Auth0 + 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5663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RS256 JWT · JWKS validation · Langfuse CallbackHandler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59" y="461772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09159" y="461772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82312" y="49377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79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gRPC Transport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79" y="505663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Protobuf service · grpcio servicer · gRPC-Web for browser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23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LLM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ChatOpenAI via Gemini OpenAI-compat API  ·  lru_cache singleton  ·  Async .ainvoke()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23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src/backend/agent/llm.py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agent/llm.py — Sprint 2: LLM Integration via OpenAI-compatible Gemini 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langchain_openai import ChatOpenAI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functools import lru_cache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            # singleton — built once, reused forever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get_llm():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api_key  = os.getenv('GEMINI_API_KEY', '')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model    = os.getenv('GEMINI_MODEL_NAME', 'gemini-2.0-flash')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base_url = os.getenv('GEMINI_BASE_URL',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'https://generativelanguage.googleapis.com/v1beta/openai/')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if not api_key: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raise GeminiConfigError('GEMINI_API_KEY is not set.')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ChatOpenAI(model=model, api_key=api_key,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     base_url=base_url, temperature=0.7, max_tokens=4096)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Sprint 2, LO3 — Asynchronous LLM call with .ainvoke()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async def run_agent_async(user_message, session_id='default'):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result = await _get_agent().ainvoke(   # non-blocking async call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{'input': user_message},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config={'configurable': {'session_id': session_id}},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result.get('output', '')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LangChain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search_jobs  ·  analyze_resume  ·  generate_cover_letter  —  @tool decorator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src/backend/agent/tools/job_search.py  |  resume_analyzer.py  |  cover_letter.py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agent/tools/job_search.py — Sprint 3: LangChain @tool decorator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langchain.tools import tool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@tool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search_jobs(query: str, location: str = '') -&gt; str: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E9178"/>
                </a:solidFill>
                <a:latin typeface="Courier New"/>
              </a:rPr>
              <a:t>    """Search for live job listings via SerpAPI Google Jobs.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Use this when the user wants to find job opportunities.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E9178"/>
                </a:solidFill>
                <a:latin typeface="Courier New"/>
              </a:rP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try: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fetch_job_listings(query, location)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SerpApiConfigError as exc: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f'Configuration error: {exc}'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SerpApiRateLimitError: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'Rate limit hit. Please try again in a few minutes.'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SerpApiNetworkError: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'Cannot reach SerpAPI. Check your connection.'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SerpApiError as exc: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f'Job search error: {exc}'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All three @tool functions registered with AgentExecutor: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tools = [search_jobs, analyze_resume, generate_cover_letter]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Agent +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create_tool_calling_agent  ·  AgentExecutor  ·  RunnableWithMessageHistory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src/backend/agent/job_agent.py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agent/job_agent.py — Sprint 4: Tool-calling agent with session 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langchain.agents import AgentExecutor, create_tool_calling_agent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langchain_core.runnables.history import RunnableWithMessageHistory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_build_agent_executor() -&gt; AgentExecutor: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prompt = ChatPromptTemplate.from_messages([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('system', SYSTEM_PROMPT),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MessagesPlaceholder('chat_history'),  # injected by history wrapper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('human', '{input}'),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MessagesPlaceholder('agent_scratchpad'),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agent    = create_tool_calling_agent(get_llm(), tools, prompt)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AgentExecutor(agent=agent, tools=tools,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        max_iterations=6, handle_parsing_errors=True)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Per-session conversation memory (in-process dict)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_session_store: dict[str, ChatMessageHistory] =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agent_with_history = RunnableWithMessageHistory(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executor, get_session_history,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input_messages_key='input', history_messages_key='chat_history',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LCEL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Pipe syntax  prompt | llm | StrOutputParser()  in every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src/backend/agent/tools/resume_analyzer.py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agent/tools/resume_analyzer.py — Sprint 5: LCEL chain with pipe syntax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langchain_core.prompts import ChatPromptTemplate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langchain_core.output_parsers import StrOutputParser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functools import lru_cache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_get_analysis_chain():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prompt_template = ChatPromptTemplate.from_messages([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('system', 'You are an expert career consultant.'),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('human', '{analysis_prompt}'),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# Sprint 5 — LCEL pipe operator: prompt | llm | output_parser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prompt_template | get_llm() | StrOutputParser()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analyze_resume_core(resume_text, job_description='', callbacks=None):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if not resume_text or len(resume_text.strip()) &lt; 50: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raise ValueError('Resume text too short (min 50 chars).')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prompt = build_analysis_prompt(resume_text, job_description)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chain  = _get_analysis_chain()   # cached LCEL chain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cfg    = {'callbacks': callbacks} if callbacks else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chain.invoke({'analysis_prompt': prompt}, config=cfg)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Router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RunnableBranch  ·  intent classifier  →  specialist chain dispatch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src/backend/agent/router.py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agent/router.py — Sprint 6: Intent routing with RunnableBranch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langchain_core.runnables import RunnableBranch, RunnablePassthrough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get_router_pipeline():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llm, parser = get_llm(), StrOutputParser()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# One specialist LCEL chain per intent (pipe syntax)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job_search_chain   = _JOB_SEARCH_PROMPT  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resume_chain       = _RESUME_PROMPT      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cover_letter_chain = _COVER_LETTER_PROMPT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general_chain      = _GENERAL_PROMPT     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branch = RunnableBranch(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(lambda x: 'job_search'   in x.get('intent',''), job_search_chain),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(lambda x: 'resume'       in x.get('intent',''), resume_chain),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(lambda x: 'cover_letter' in x.get('intent',''), cover_letter_chain),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general_chain,   # default branch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classify = _get_classify_chain()   # LLM intent classifier chain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RunnablePassthrough.assign(intent=classify) | branch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Streaming (SSE)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astream_events()  ·  FastAPI StreamingResponse  ·  token-by-token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src/backend/fastapi_app.py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fastapi_app.py — Sprint 7: SSE token streaming endpoint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fastapi.responses import StreamingResponse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import json, uuid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@app.post('/api/chat/stream')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async def stream_chat(body: ChatRequest, request: Request):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session_id = body.session_id or str(uuid.uuid4())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async def event_generator():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    # stream_agent() yields tokens via .astream_events()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async for token in stream_agent(body.message, session_id):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payload = json.dumps({'token': token, 'session_id': session_id})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    yield f'data: {payload}\n\n'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    # End-of-stream sentinel for the client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yield f'data: {json.dumps({"done": True})}\n\n'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StreamingResponse(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event_generator(),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media_type='text/event-stream',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headers={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'Cache-Control': 'no-cache',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'X-Accel-Buffering': 'no',   # disable proxy buffering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6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276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Auth0 +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RS256 JWT  ·  JWKS validation  ·  Langfuse CallbackHandler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276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src/backend/auth/auth0.py  |  observability/langfuse_config.py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auth/auth0.py — Sprint 8: Auth0 RS256 JWT verification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_get_jwks() -&gt; dict: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resp = http_requests.get(f'https://{AUTH0_DOMAIN}/.well-known/jwks.json')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resp.raise_for_status()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resp.json()   # cached for the process lifetime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verify_token(token: str) -&gt; dict: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jwks   = _get_jwks()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header = jwt.get_unverified_header(token)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key    = next((k for k in jwks['keys'] if k['kid']==header['kid']), None)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jwt.decode(token, key, algorithms=['RS256'],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     audience=AUTH0_AUDIENCE)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observability/langfuse_config.py — Langfuse CallbackHandler injection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get_langfuse_handler(session_id, user_id=None):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from langfuse.callback import CallbackHandler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CallbackHandler(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secret_key=LANGFUSE_SK, public_key=LANGFUSE_PK,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session_id=session_id,  user_id=user_id,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trace_name='job-placement-agent',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tags=['job-agent', 'langchain'],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gRPC 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Protobuf service  ·  grpcio servicer  ·  gRPC-Web for browser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src/backend/grpc_server.py  +  proto/job_agent.proto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grpc_server.py — Sprint 9: gRPC servicer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Proto: service JobAgentService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  rpc HealthCheck(HealthRequest)  returns (HealthResponse);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  rpc Chat       (ChatRequest)    returns (ChatResponse);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class JobAgentServicer(job_agent_pb2_grpc.JobAgentServiceServicer):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def HealthCheck(self, request, context):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job_agent_pb2.HealthResponse(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status='healthy', version='1.0.0',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message='gRPC server is running.',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def Chat(self, request, context):  # protected RPC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user       = _require_auth(context)   # RS256 JWT check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session_id = request.session_id or str(uuid.uuid4())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resp = run_agent(request.message, session_id, user['sub'])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    return job_agent_pb2.ChatResponse(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response=resp, session_id=session_id)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except AppError as exc: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code, detail = _map_app_error(exc)  # domain → gRPC status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context.abort(code, detail)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Live Demo — End-to-End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987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Session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User opens chat UI → POST /api/session → server returns UUID session_id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144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599" y="987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987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Job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"Find Python developer jobs in Austin" → Agent calls search_jobs() via SerpAPI → 8 live listings returned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587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5877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Resume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0449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User pastes resume → Agent calls analyze_resume() via LCEL chain → Skills, gaps, score returned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5146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59" y="25146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599" y="2587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799" y="25877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Intent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449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POST /api/chat/route → LCEL RunnableBranch classifies 'cover letter' intent → specialist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148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1879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87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Cover 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6451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Agent calls generate_cover_letter() → tailored 350-word letter in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41148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41148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599" y="41879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4187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Streaming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6451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POST /api/chat/stream → SSE StreamingResponse → tokens appear progressively in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325880"/>
            <a:ext cx="594360" cy="21945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1335024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3258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325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Health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1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" y="1673351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" y="16824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1673351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/api/auth/token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673351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1673351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Get Auth0 access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2020824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202996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02082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0208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20208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 (no auth — demo/Streamlit)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2608" y="2368296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" y="237744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2368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236829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36829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 a new session UUID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92608" y="2715768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" y="2724912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2715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7952" y="27157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7157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 with the agent (authenticated)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2608" y="3063239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" y="3072384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30632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/api/chat/async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7952" y="306323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306323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Async chat via .ainvoke()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3410712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1752" y="34198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34107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/api/chat/stream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87952" y="34107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9472" y="34107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SSE streaming — token-by-token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712464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2608" y="3758184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1752" y="376732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" y="37581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/api/chat/route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87952" y="37581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19472" y="375818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intent router dispatch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59935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92608" y="4105655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1752" y="411479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" y="4105655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/api/jobs/search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410565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9472" y="4105655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SerpAPI job search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92608" y="4453128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1752" y="4462272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" y="44531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/api/resume/analyze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87952" y="44531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9472" y="44531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resume analysis with Langfuse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754879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4800599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4809743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" y="480059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/api/cover-letter/gen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87952" y="480059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19472" y="480059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cover letter generation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102352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92608" y="5148072"/>
            <a:ext cx="594360" cy="21945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01752" y="51572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" y="51480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/api/chat/{session_id}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87952" y="51480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19472" y="5148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Clear session conversation memory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449824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92608" y="5495544"/>
            <a:ext cx="594360" cy="21945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1752" y="550468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9264" y="54955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/api/sessions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87952" y="54955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19472" y="54955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List all active session IDs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Observability &amp;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60520" cy="5074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50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Langfuse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0876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LLM calls — prompts, completions, token 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05740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Tool invocations — tool name, args,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60604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Latency — end-to-end and per-step 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15467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Errors — exceptions with full stack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0332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Traces grouped by session_id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25195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Named: job-placement-agent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80059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Flush on every request (Vercel-safe)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34924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Enabled only when LANGFUSE_SECRET_KEY is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914400"/>
            <a:ext cx="4160520" cy="5074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950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Auth0 JWT 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150876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RS256 JWT signed by Auth0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205740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20116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JWKS endpoint for public key fetch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8888" y="260604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Validates: signature, audience, issuer, expiry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8888" y="315467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31089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lru_cache on JWKS (avoids repeated fetches)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18888" y="370332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Public endpoints: /api/health, /api/chat/public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8888" y="425195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83480" y="4206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Protected: all others require Bearer token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8888" y="480059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47548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POST /api/auth/token returns access token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18888" y="534924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5303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python-jose[cryptography] for verification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Testing &amp; Code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E88E5"/>
                </a:solidFill>
              </a:rPr>
              <a:t>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51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Total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376 tests · 0 failures · 1 016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51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pytest + pytest-cov
pytest-mock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224028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295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test_agent.py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run_agent · async · stream · _build_agent_executor · flush swallowing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963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37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224028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59" y="224028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295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test_llm.py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get_llm · invoke_llm · openai isinstance branches · ImportError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4963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27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320040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test_router.py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639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route_query · RunnableBranch · classify chain · intent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456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19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20040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09559" y="320040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test_tools_*.py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639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job_search · resume_analyzer · cover_letter · GeminiError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456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51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0" y="416052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215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test_fastapi_app.py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TestClient · all 13 endpoints · AppError handler · SSE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4165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67 tests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416052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09559" y="416052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8888" y="4215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test_main.py (gRPC)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JobAgentServicer · RPCs · _require_auth · _map_app_error · serve()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4165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69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74720" y="512064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test_auth0.py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fetch_token · verify_token · JWKS cache · error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3766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38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59" y="512064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09559" y="512064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18888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test_schemas.py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Pydantic models · validators · ApiResponse envelope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53766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46 tests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6199632"/>
            <a:ext cx="8449056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254496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E7D32"/>
                </a:solidFill>
                <a:latin typeface="Segoe UI"/>
              </a:rPr>
              <a:t>🚀  Live 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6272784"/>
            <a:ext cx="7040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Courier New"/>
              </a:rPr>
              <a:t>Frontend: https://job-agent-frontend-seven.vercel.app    │    Backend API: https://job-agent-backend-nine.vercel.app    │    Docs: https://job-agent-backend-nine.vercel.app/docs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Code Coverage Report — pytest --cov=src/backend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AC8FF"/>
                </a:solidFill>
              </a:rPr>
              <a:t>376 tests · 0 failures · 1,016 statements · Python 3.13 · pytest 9.0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4389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957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C8FF"/>
                </a:solidFill>
              </a:rP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143000"/>
            <a:ext cx="9144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7957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Stmts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8229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17957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143000"/>
            <a:ext cx="10058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17957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435608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agent/job_agent.py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435608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7218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435608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47218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435608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7218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28216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76479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agent/llm.py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728216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76479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728216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76479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1728216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76479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020824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05740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agent/router.py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020824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05740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020824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205740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020824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05740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313432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35000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agent/tools/cover_letter.py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2313432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235000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313432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235000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2313432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23500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606040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264261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agent/tools/job_search.py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2606040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264261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91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2606040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264261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2606040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264261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898648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93522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agent/tools/resume_analyzer.py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898648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293522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2898648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440" y="293522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2898648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93522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191256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322783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auth/auth0.py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0" y="3191256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322783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3191256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06440" y="322783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29400" y="3191256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2278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483864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352044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exceptions.py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3483864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0" y="352044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0" y="3483864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06440" y="352044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9400" y="3483864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3520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3776472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381304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fastapi_app.py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0600" y="3776472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46320" y="381304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118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0" y="3776472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381304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29400" y="3776472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38130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4069080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410565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grpc_server.py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00600" y="4069080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46320" y="410565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143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60720" y="4069080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410565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29400" y="4069080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75120" y="410565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4361688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439826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4361688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439826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4361688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439826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29400" y="4361688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75120" y="439826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4654296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469087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models/responses.py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800600" y="4654296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46320" y="469087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60720" y="4654296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06440" y="469087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29400" y="4654296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75120" y="46908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" y="4946904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498348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models/schemas.py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00600" y="4946904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846320" y="498348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112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60720" y="4946904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06440" y="498348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29400" y="4946904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75120" y="498348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E06B"/>
                </a:solidFill>
              </a:rPr>
              <a:t>96%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0040" y="5239512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527608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observability/langfuse_config.py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00600" y="5239512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527608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760720" y="5239512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806440" y="527608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29400" y="5239512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75120" y="52760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5532120"/>
            <a:ext cx="438912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556869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index.py (entry point)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00600" y="5532120"/>
            <a:ext cx="91440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846320" y="556869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0720" y="5532120"/>
            <a:ext cx="82296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06440" y="556869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9400" y="5532120"/>
            <a:ext cx="100584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75120" y="556869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6B6B"/>
                </a:solidFill>
              </a:rPr>
              <a:t>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0040" y="5824728"/>
            <a:ext cx="438912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5760" y="586130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0600" y="5824728"/>
            <a:ext cx="91440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846320" y="586130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1016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60720" y="5824728"/>
            <a:ext cx="82296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06440" y="58613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29400" y="5824728"/>
            <a:ext cx="100584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75120" y="586130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0040" y="625449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A0C0"/>
                </a:solidFill>
              </a:rPr>
              <a:t>Remaining 11 missing lines: index.py (entry-point, untestable) · schemas.py validators (unreachable via Pydantic field constraints)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605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Frontend — Vercel (Static)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index.html + build.js (Vite-bundled)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Environment vars via inject-env.ps1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CORS-enabled for API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34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vercel.json routes all to index.html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914400"/>
            <a:ext cx="41605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Backend — Vercel (Serverless)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FastAPI wrapped by Mangum (ASGI → Lambda)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index.py as Vercel Python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vercel.json → src/backend/index.py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34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ENV vars in Vercel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41605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4160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7398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gRPC — Local /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87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grpc_server.py  — native gRPC :50051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085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grpc_web_server.py — gRPC-Web :8080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main.py starts both (threaded)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449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Protobuf generated by generate_proto.py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703320"/>
            <a:ext cx="4160520" cy="2286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3703320"/>
            <a:ext cx="416052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7398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Quality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87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pytest --cov → 99% total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085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pytest.ini: pythonpath = src/backend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conftest.py: sys.modules stubs (no real 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449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deploy-vercel.ps1: deploy automation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1605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</a:rPr>
              <a:t>Full-Stack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FastAPI REST + gRPC + gRPC-Web transports on one servicer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7160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71600"/>
            <a:ext cx="41605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</a:rPr>
              <a:t>8 Sprint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57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LCEL · Router · Async · SSE · Auth0 · Langfuse · gRPC ·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41605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</a:rPr>
              <a:t>Production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99% test coverage · typed schemas · domain exceptions · Vercel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06324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3063240"/>
            <a:ext cx="4160520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7F17"/>
                </a:solidFill>
              </a:rPr>
              <a:t>Observable &amp; 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7490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Langfuse traces every LLM call · Auth0 RS256 on all protected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Thank you  |  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Job Placement Agent — NIIT Sprint 11 Capstone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D1B2A"/>
                </a:solidFill>
                <a:latin typeface="Segoe UI"/>
              </a:rPr>
              <a:t>Optional Auth0 &amp; Guest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78909C"/>
                </a:solidFill>
                <a:latin typeface="Segoe UI"/>
              </a:rPr>
              <a:t>Users can now access the app without signing in — no Auth0 account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24128"/>
            <a:ext cx="3291840" cy="4023360"/>
          </a:xfrm>
          <a:prstGeom prst="rect">
            <a:avLst/>
          </a:prstGeom>
          <a:solidFill>
            <a:srgbClr val="E0F2F1"/>
          </a:solidFill>
          <a:ln w="6350"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24128"/>
            <a:ext cx="3291840" cy="310896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69848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⚙  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08176"/>
            <a:ext cx="301752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444444"/>
                </a:solidFill>
                <a:latin typeface="Segoe UI"/>
              </a:rPr>
              <a:t/>
            </a:r>
            <a:r>
              <a:rPr sz="1000" b="1">
                <a:solidFill>
                  <a:srgbClr val="0D1B2A"/>
                </a:solidFill>
                <a:latin typeface="Segoe UI"/>
              </a:rPr>
              <a:t>Login screen shows two options: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444444"/>
                </a:solidFill>
                <a:latin typeface="Segoe UI"/>
              </a:rPr>
              <a:t>  • "Sign in to continue" (Auth0)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00696B"/>
                </a:solidFill>
                <a:latin typeface="Segoe UI"/>
              </a:rPr>
              <a:t>  • "Continue as Guest"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D1B2A"/>
                </a:solidFill>
                <a:latin typeface="Segoe UI"/>
              </a:rPr>
              <a:t>Guest sets isGuest = true and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444444"/>
                </a:solidFill>
                <a:latin typeface="Segoe UI"/>
              </a:rPr>
              <a:t>  calls enterApp(true) — skipping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444444"/>
                </a:solidFill>
                <a:latin typeface="Segoe UI"/>
              </a:rPr>
              <a:t>  all Auth0 token fetches.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D1B2A"/>
                </a:solidFill>
                <a:latin typeface="Segoe UI"/>
              </a:rPr>
              <a:t>API calls route to /api/chat/stream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444444"/>
                </a:solidFill>
                <a:latin typeface="Segoe UI"/>
              </a:rPr>
              <a:t>  — a public endpoint requiring no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444444"/>
                </a:solidFill>
                <a:latin typeface="Segoe UI"/>
              </a:rPr>
              <a:t>  Bearer token.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D1B2A"/>
                </a:solidFill>
                <a:latin typeface="Segoe UI"/>
              </a:rPr>
              <a:t>Sidebar shows "Guest" badge +</a:t>
            </a:r>
          </a:p>
          <a:p>
            <a:pPr>
              <a:spcBef>
                <a:spcPts val="0"/>
              </a:spcBef>
            </a:pPr>
            <a:r>
              <a:rPr sz="950" b="0">
                <a:solidFill>
                  <a:srgbClr val="444444"/>
                </a:solidFill>
                <a:latin typeface="Segoe UI"/>
              </a:rPr>
              <a:t>  sign-in icon to upgrade anytime.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024128"/>
            <a:ext cx="2423160" cy="4023360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1024128"/>
            <a:ext cx="2423160" cy="31089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069848"/>
            <a:ext cx="2240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🔐 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1064" y="1408176"/>
            <a:ext cx="2313432" cy="329184"/>
          </a:xfrm>
          <a:prstGeom prst="rect">
            <a:avLst/>
          </a:prstGeom>
          <a:solidFill>
            <a:srgbClr val="EC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463040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D1B2A"/>
                </a:solidFill>
                <a:latin typeface="Segoe UI"/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1463040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 i="0">
                <a:solidFill>
                  <a:srgbClr val="444444"/>
                </a:solidFill>
                <a:latin typeface="Segoe UI"/>
              </a:rPr>
              <a:t>Guest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463040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 i="0">
                <a:solidFill>
                  <a:srgbClr val="1E88E5"/>
                </a:solidFill>
                <a:latin typeface="Segoe UI"/>
              </a:rPr>
              <a:t>Auth0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1064" y="1746504"/>
            <a:ext cx="2313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1801368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Segoe UI"/>
              </a:rP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801368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444444"/>
                </a:solidFill>
                <a:latin typeface="Segoe UI"/>
              </a:rP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801368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1E88E5"/>
                </a:solidFill>
                <a:latin typeface="Segoe UI"/>
              </a:rPr>
              <a:t>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41064" y="2084832"/>
            <a:ext cx="2313432" cy="329184"/>
          </a:xfrm>
          <a:prstGeom prst="rect">
            <a:avLst/>
          </a:prstGeom>
          <a:solidFill>
            <a:srgbClr val="F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2139696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Segoe UI"/>
              </a:rPr>
              <a:t>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2139696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00696B"/>
                </a:solidFill>
                <a:latin typeface="Segoe UI"/>
              </a:rPr>
              <a:t>Shared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139696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1E88E5"/>
                </a:solidFill>
                <a:latin typeface="Segoe UI"/>
              </a:rPr>
              <a:t>Per-user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1064" y="2423160"/>
            <a:ext cx="2313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247802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Segoe UI"/>
              </a:rPr>
              <a:t>Langfuse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2478024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444444"/>
                </a:solidFill>
                <a:latin typeface="Segoe U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478024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1E88E5"/>
                </a:solidFill>
                <a:latin typeface="Segoe UI"/>
              </a:rPr>
              <a:t>Full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1064" y="2761488"/>
            <a:ext cx="2313432" cy="329184"/>
          </a:xfrm>
          <a:prstGeom prst="rect">
            <a:avLst/>
          </a:prstGeom>
          <a:solidFill>
            <a:srgbClr val="F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40" y="281635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Segoe UI"/>
              </a:rPr>
              <a:t>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2816352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444444"/>
                </a:solidFill>
                <a:latin typeface="Segoe UI"/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816352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1E88E5"/>
                </a:solidFill>
                <a:latin typeface="Segoe UI"/>
              </a:rPr>
              <a:t>JWT Bearer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1064" y="3099816"/>
            <a:ext cx="2313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40" y="3154680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Segoe UI"/>
              </a:rPr>
              <a:t>Upgrade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0328" y="3154680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444444"/>
                </a:solidFill>
                <a:latin typeface="Segoe UI"/>
              </a:rPr>
              <a:t>Always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154680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1E88E5"/>
                </a:solidFill>
                <a:latin typeface="Segoe UI"/>
              </a:rPr>
              <a:t>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1064" y="3438144"/>
            <a:ext cx="2313432" cy="329184"/>
          </a:xfrm>
          <a:prstGeom prst="rect">
            <a:avLst/>
          </a:prstGeom>
          <a:solidFill>
            <a:srgbClr val="F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40" y="3493008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1B2A"/>
                </a:solidFill>
                <a:latin typeface="Segoe UI"/>
              </a:rPr>
              <a:t>API endpoint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3493008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444444"/>
                </a:solidFill>
                <a:latin typeface="Segoe UI"/>
              </a:rPr>
              <a:t>/stream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3493008"/>
            <a:ext cx="640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1E88E5"/>
                </a:solidFill>
                <a:latin typeface="Segoe UI"/>
              </a:rPr>
              <a:t>/chat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1024128"/>
            <a:ext cx="2286000" cy="4023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1078992"/>
            <a:ext cx="2103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1">
                <a:solidFill>
                  <a:srgbClr val="8599AA"/>
                </a:solidFill>
                <a:latin typeface="Courier New"/>
              </a:rPr>
              <a:t>index.html — guest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133502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6A9955"/>
                </a:solidFill>
                <a:latin typeface="Courier New"/>
              </a:rPr>
              <a:t>//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49504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let isGuest = false;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181508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6A9955"/>
                </a:solidFill>
                <a:latin typeface="Courier New"/>
              </a:rPr>
              <a:t>// Button handler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197510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569CD6"/>
                </a:solidFill>
                <a:latin typeface="Courier New"/>
              </a:rPr>
              <a:t>async function continueAsGuest() {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213512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isGuest = true;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229514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hide('login-screen');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45516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await enterApp(true);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261518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293522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6A9955"/>
                </a:solidFill>
                <a:latin typeface="Courier New"/>
              </a:rPr>
              <a:t>// Route to public endpoint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09524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const ep = isGuest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325526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CE9178"/>
                </a:solidFill>
                <a:latin typeface="Courier New"/>
              </a:rPr>
              <a:t>  ? '/api/chat/stream'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41528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CE9178"/>
                </a:solidFill>
                <a:latin typeface="Courier New"/>
              </a:rPr>
              <a:t>  : '/api/chat/stream';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373532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6A9955"/>
                </a:solidFill>
                <a:latin typeface="Courier New"/>
              </a:rPr>
              <a:t>// Logout handles guest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389534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569CD6"/>
                </a:solidFill>
                <a:latin typeface="Courier New"/>
              </a:rPr>
              <a:t>async function logout()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405536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if (isGuest) {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421538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  isGuest = false;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437540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  show('login-screen');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53542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  return;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69544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485546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D4D4D4"/>
                </a:solidFill>
                <a:latin typeface="Courier New"/>
              </a:rPr>
              <a:t>  await auth0Client.logout(...);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9400" y="5015484"/>
            <a:ext cx="2103120" cy="1783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 i="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473952"/>
            <a:ext cx="8321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78909C"/>
                </a:solidFill>
                <a:latin typeface="Segoe UI"/>
              </a:rPr>
              <a:t>No breaking changes · Auth0 flow unchanged · Public endpoints pre-existed in backend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D1B2A"/>
                </a:solidFill>
                <a:latin typeface="Segoe UI"/>
              </a:rPr>
              <a:t>Latency &amp; Performance Optimisations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78909C"/>
                </a:solidFill>
                <a:latin typeface="Segoe UI"/>
              </a:rPr>
              <a:t>5 targeted fixes reduced agent response latency and eliminated cold-start blocking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1719072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24128"/>
            <a:ext cx="1719072" cy="32918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69848"/>
            <a:ext cx="153619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1. Async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408176"/>
            <a:ext cx="153619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444444"/>
                </a:solidFill>
                <a:latin typeface="Segoe UI"/>
              </a:rPr>
              <a:t>All sync def routes → async def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Event loop never frozen during LLM/HTTP calls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FastAPI can handle concurrent requests properly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1136" y="1024128"/>
            <a:ext cx="1719072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31136" y="1024128"/>
            <a:ext cx="1719072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1069848"/>
            <a:ext cx="153619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2. asyncio.to_thread()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1408176"/>
            <a:ext cx="153619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444444"/>
                </a:solidFill>
                <a:latin typeface="Segoe UI"/>
              </a:rPr>
              <a:t>SerpAPI, resume analysis, cover letter,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and Auth0 token fetch run in thread pool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Blocking I/O off the event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024128"/>
            <a:ext cx="1719072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024128"/>
            <a:ext cx="1719072" cy="329184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069848"/>
            <a:ext cx="153619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3. SSE Token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408176"/>
            <a:ext cx="153619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444444"/>
                </a:solidFill>
                <a:latin typeface="Segoe UI"/>
              </a:rPr>
              <a:t>Frontend uses /api/chat/stream (SSE)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Text appears word-by-word via ReadableStream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Falls back to JSON if streaming fails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98464" y="1024128"/>
            <a:ext cx="1719072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98464" y="1024128"/>
            <a:ext cx="1719072" cy="32918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1069848"/>
            <a:ext cx="153619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4. Startup Pre-warming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1408176"/>
            <a:ext cx="153619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444444"/>
                </a:solidFill>
                <a:latin typeface="Segoe UI"/>
              </a:rPr>
              <a:t>on_startup() launches background task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Auth0 JWKS + Agent executor built at boot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First real request hits warm singletons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1024128"/>
            <a:ext cx="1719072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1024128"/>
            <a:ext cx="1719072" cy="32918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069848"/>
            <a:ext cx="153619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5. Langfuse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1408176"/>
            <a:ext cx="153619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444444"/>
                </a:solidFill>
                <a:latin typeface="Segoe UI"/>
              </a:rPr>
              <a:t>_langfuse_setup() decorated with @lru_cache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Env-var reads + package import happen once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444444"/>
                </a:solidFill>
                <a:latin typeface="Segoe UI"/>
              </a:rPr>
              <a:t>Per-request overhead: only CallbackHandler()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328416"/>
            <a:ext cx="8449056" cy="14447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3392424"/>
            <a:ext cx="84490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D1B2A"/>
                </a:solidFill>
                <a:latin typeface="Segoe UI"/>
              </a:rPr>
              <a:t>Response Latency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3657600"/>
            <a:ext cx="2295144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3694176"/>
            <a:ext cx="2240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Scenario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70632" y="3657600"/>
            <a:ext cx="1197864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5496" y="3694176"/>
            <a:ext cx="1143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Before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05072" y="3657600"/>
            <a:ext cx="1197864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9936" y="3694176"/>
            <a:ext cx="1143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After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9512" y="3657600"/>
            <a:ext cx="3941063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94376" y="3694176"/>
            <a:ext cx="3886199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Key Fix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3931920"/>
            <a:ext cx="22951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3968496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444444"/>
                </a:solidFill>
                <a:latin typeface="Segoe UI"/>
              </a:rPr>
              <a:t>Chat — subsequent 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" y="3931920"/>
            <a:ext cx="119786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25496" y="3968496"/>
            <a:ext cx="1143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C62828"/>
                </a:solidFill>
                <a:latin typeface="Segoe UI"/>
              </a:rPr>
              <a:t>1–3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05072" y="3931920"/>
            <a:ext cx="119786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9936" y="3968496"/>
            <a:ext cx="1143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Segoe UI"/>
              </a:rPr>
              <a:t>1–3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9512" y="3931920"/>
            <a:ext cx="3941063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4376" y="3968496"/>
            <a:ext cx="38861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444444"/>
                </a:solidFill>
                <a:latin typeface="Segoe UI"/>
              </a:rPr>
              <a:t>Async → no event-loop block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" y="4187952"/>
            <a:ext cx="2295144" cy="2377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" y="4224528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444444"/>
                </a:solidFill>
                <a:latin typeface="Segoe UI"/>
              </a:rPr>
              <a:t>Chat — cold start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70632" y="4187952"/>
            <a:ext cx="1197864" cy="2377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25496" y="4224528"/>
            <a:ext cx="1143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C62828"/>
                </a:solidFill>
                <a:latin typeface="Segoe UI"/>
              </a:rPr>
              <a:t>4–8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05072" y="4187952"/>
            <a:ext cx="1197864" cy="2377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59936" y="4224528"/>
            <a:ext cx="1143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Segoe UI"/>
              </a:rPr>
              <a:t>1–3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39512" y="4187952"/>
            <a:ext cx="3941063" cy="2377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94376" y="4224528"/>
            <a:ext cx="38861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444444"/>
                </a:solidFill>
                <a:latin typeface="Segoe UI"/>
              </a:rPr>
              <a:t>Pre-warm at startup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4443984"/>
            <a:ext cx="22951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448056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444444"/>
                </a:solidFill>
                <a:latin typeface="Segoe UI"/>
              </a:rPr>
              <a:t>Time-to-first-token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70632" y="4443984"/>
            <a:ext cx="119786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25496" y="4480560"/>
            <a:ext cx="1143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444444"/>
                </a:solidFill>
                <a:latin typeface="Segoe UI"/>
              </a:rPr>
              <a:t>full wait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05072" y="4443984"/>
            <a:ext cx="119786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59936" y="4480560"/>
            <a:ext cx="1143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Segoe UI"/>
              </a:rPr>
              <a:t>~100 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39512" y="4443984"/>
            <a:ext cx="3941063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94376" y="4480560"/>
            <a:ext cx="38861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444444"/>
                </a:solidFill>
                <a:latin typeface="Segoe UI"/>
              </a:rPr>
              <a:t>SSE streaming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473952"/>
            <a:ext cx="8321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78909C"/>
                </a:solidFill>
                <a:latin typeface="Segoe UI"/>
              </a:rPr>
              <a:t>maxDuration: 60 added to vercel.json  ·  BOM-stripping middleware for Windows env-var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1481</Words>
  <Application>Microsoft Office PowerPoint</Application>
  <PresentationFormat>On-screen Show (4:3)</PresentationFormat>
  <Paragraphs>266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Arockia Dhanaraj David</cp:lastModifiedBy>
  <cp:revision>2</cp:revision>
  <dcterms:created xsi:type="dcterms:W3CDTF">2013-01-27T09:14:16Z</dcterms:created>
  <dcterms:modified xsi:type="dcterms:W3CDTF">2026-04-18T13:54:10Z</dcterms:modified>
  <cp:category/>
</cp:coreProperties>
</file>